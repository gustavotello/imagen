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309" r:id="rId3"/>
    <p:sldId id="310" r:id="rId4"/>
    <p:sldId id="311" r:id="rId5"/>
    <p:sldId id="312" r:id="rId6"/>
    <p:sldId id="313" r:id="rId7"/>
    <p:sldId id="314" r:id="rId8"/>
    <p:sldId id="327" r:id="rId26"/>
    <p:sldId id="326" r:id="rId25"/>
    <p:sldId id="325" r:id="rId24"/>
    <p:sldId id="324" r:id="rId23"/>
    <p:sldId id="323" r:id="rId22"/>
    <p:sldId id="322" r:id="rId21"/>
    <p:sldId id="315" r:id="rId9"/>
    <p:sldId id="316" r:id="rId10"/>
    <p:sldId id="317" r:id="rId11"/>
    <p:sldId id="318" r:id="rId12"/>
    <p:sldId id="321" r:id="rId13"/>
    <p:sldId id="267" r:id="rId14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0000"/>
    <a:srgbClr val="8E0000"/>
    <a:srgbClr val="A8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27" autoAdjust="0"/>
    <p:restoredTop sz="94291" autoAdjust="0"/>
  </p:normalViewPr>
  <p:slideViewPr>
    <p:cSldViewPr snapToGrid="0">
      <p:cViewPr varScale="1">
        <p:scale>
          <a:sx n="37" d="100"/>
          <a:sy n="37" d="100"/>
        </p:scale>
        <p:origin x="960" y="42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62" y="9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  <Relationship Id="rId21" Type="http://schemas.openxmlformats.org/officeDocument/2006/relationships/slide" Target="slides/slide14.xml"/>
  <Relationship Id="rId22" Type="http://schemas.openxmlformats.org/officeDocument/2006/relationships/slide" Target="slides/slide15.xml"/>
  <Relationship Id="rId23" Type="http://schemas.openxmlformats.org/officeDocument/2006/relationships/slide" Target="slides/slide16.xml"/>
  <Relationship Id="rId24" Type="http://schemas.openxmlformats.org/officeDocument/2006/relationships/slide" Target="slides/slide17.xml"/>
  <Relationship Id="rId25" Type="http://schemas.openxmlformats.org/officeDocument/2006/relationships/slide" Target="slides/slide18.xml"/>
  <Relationship Id="rId26" Type="http://schemas.openxmlformats.org/officeDocument/2006/relationships/slide" Target="slides/slide19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FABD55-8D88-409E-8B63-7C590D242F4B}" type="doc">
      <dgm:prSet loTypeId="urn:microsoft.com/office/officeart/2005/8/layout/StepDownProcess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ES"/>
        </a:p>
      </dgm:t>
    </dgm:pt>
    <dgm:pt modelId="{10A1B217-8519-485A-923E-59B4F687D459}">
      <dgm:prSet phldrT="[Texto]"/>
      <dgm:spPr/>
      <dgm:t>
        <a:bodyPr/>
        <a:lstStyle/>
        <a:p>
          <a:r>
            <a:rPr lang="es-ES" dirty="0"/>
            <a:t>Formación de equipos</a:t>
          </a:r>
        </a:p>
      </dgm:t>
    </dgm:pt>
    <dgm:pt modelId="{0B93C637-EF1C-4CC4-A4F7-645E163E979B}" type="parTrans" cxnId="{CDD5A2EC-D12F-4290-B5C7-E69528413DFC}">
      <dgm:prSet/>
      <dgm:spPr/>
      <dgm:t>
        <a:bodyPr/>
        <a:lstStyle/>
        <a:p>
          <a:endParaRPr lang="es-ES"/>
        </a:p>
      </dgm:t>
    </dgm:pt>
    <dgm:pt modelId="{376769CC-5CED-4103-99E0-904D330D6736}" type="sibTrans" cxnId="{CDD5A2EC-D12F-4290-B5C7-E69528413DFC}">
      <dgm:prSet/>
      <dgm:spPr/>
      <dgm:t>
        <a:bodyPr/>
        <a:lstStyle/>
        <a:p>
          <a:endParaRPr lang="es-ES"/>
        </a:p>
      </dgm:t>
    </dgm:pt>
    <dgm:pt modelId="{03C4530B-1992-40E1-86CA-EC4D0ECB444D}">
      <dgm:prSet phldrT="[Texto]"/>
      <dgm:spPr/>
      <dgm:t>
        <a:bodyPr/>
        <a:lstStyle/>
        <a:p>
          <a:r>
            <a:rPr lang="es-ES" dirty="0">
              <a:solidFill>
                <a:schemeClr val="tx1"/>
              </a:solidFill>
            </a:rPr>
            <a:t> 2 Integrantes</a:t>
          </a:r>
        </a:p>
      </dgm:t>
    </dgm:pt>
    <dgm:pt modelId="{8CDE360D-3180-478B-BB77-39F8052B345E}" type="parTrans" cxnId="{236FB1FE-9985-4B7F-BDBA-74A6230F6F8F}">
      <dgm:prSet/>
      <dgm:spPr/>
      <dgm:t>
        <a:bodyPr/>
        <a:lstStyle/>
        <a:p>
          <a:endParaRPr lang="es-ES"/>
        </a:p>
      </dgm:t>
    </dgm:pt>
    <dgm:pt modelId="{78027812-FD25-4C43-8E66-75E56FF3FB47}" type="sibTrans" cxnId="{236FB1FE-9985-4B7F-BDBA-74A6230F6F8F}">
      <dgm:prSet/>
      <dgm:spPr/>
      <dgm:t>
        <a:bodyPr/>
        <a:lstStyle/>
        <a:p>
          <a:endParaRPr lang="es-ES"/>
        </a:p>
      </dgm:t>
    </dgm:pt>
    <dgm:pt modelId="{6AD2E8AF-CF4B-46CE-9DC1-1A2E561F0140}">
      <dgm:prSet phldrT="[Texto]"/>
      <dgm:spPr/>
      <dgm:t>
        <a:bodyPr/>
        <a:lstStyle/>
        <a:p>
          <a:r>
            <a:rPr lang="es-ES" dirty="0"/>
            <a:t>Actividad a desarrollar en salas o de forma individual</a:t>
          </a:r>
        </a:p>
      </dgm:t>
    </dgm:pt>
    <dgm:pt modelId="{9C4629BB-FA84-4C3B-977F-9FEA6C0EDF5B}" type="parTrans" cxnId="{DCB3C031-7C8C-4454-BECB-BB06B0B771BC}">
      <dgm:prSet/>
      <dgm:spPr/>
      <dgm:t>
        <a:bodyPr/>
        <a:lstStyle/>
        <a:p>
          <a:endParaRPr lang="es-ES"/>
        </a:p>
      </dgm:t>
    </dgm:pt>
    <dgm:pt modelId="{A133544E-B451-4040-AA22-13B54CB830CF}" type="sibTrans" cxnId="{DCB3C031-7C8C-4454-BECB-BB06B0B771BC}">
      <dgm:prSet/>
      <dgm:spPr/>
      <dgm:t>
        <a:bodyPr/>
        <a:lstStyle/>
        <a:p>
          <a:endParaRPr lang="es-ES"/>
        </a:p>
      </dgm:t>
    </dgm:pt>
    <dgm:pt modelId="{FFDBDB29-185B-465D-91E3-15507C5B4F1B}">
      <dgm:prSet phldrT="[Texto]"/>
      <dgm:spPr/>
      <dgm:t>
        <a:bodyPr/>
        <a:lstStyle/>
        <a:p>
          <a:r>
            <a:rPr lang="es-ES" dirty="0"/>
            <a:t>Revisión de la lista de cotejo/rúbrica</a:t>
          </a:r>
        </a:p>
      </dgm:t>
    </dgm:pt>
    <dgm:pt modelId="{B4EB0917-3A39-4475-91DD-E8AF492FC347}" type="parTrans" cxnId="{9EC22C64-87AA-4E4C-AA70-BE720CD9BE14}">
      <dgm:prSet/>
      <dgm:spPr/>
      <dgm:t>
        <a:bodyPr/>
        <a:lstStyle/>
        <a:p>
          <a:endParaRPr lang="es-ES"/>
        </a:p>
      </dgm:t>
    </dgm:pt>
    <dgm:pt modelId="{07A5C714-EF75-4406-B7A1-EA250EF7FC09}" type="sibTrans" cxnId="{9EC22C64-87AA-4E4C-AA70-BE720CD9BE14}">
      <dgm:prSet/>
      <dgm:spPr/>
      <dgm:t>
        <a:bodyPr/>
        <a:lstStyle/>
        <a:p>
          <a:endParaRPr lang="es-ES"/>
        </a:p>
      </dgm:t>
    </dgm:pt>
    <dgm:pt modelId="{30871830-5ACB-4483-A65B-9A29CDC704F7}">
      <dgm:prSet phldrT="[Texto]"/>
      <dgm:spPr/>
      <dgm:t>
        <a:bodyPr/>
        <a:lstStyle/>
        <a:p>
          <a:r>
            <a:rPr lang="es-ES" dirty="0"/>
            <a:t>Tiempo asignado</a:t>
          </a:r>
        </a:p>
      </dgm:t>
    </dgm:pt>
    <dgm:pt modelId="{5E1B753A-2BEC-48AC-80B9-96AB8E95D143}" type="parTrans" cxnId="{3A99AB2E-D1E4-4810-820A-91F26F984FA6}">
      <dgm:prSet/>
      <dgm:spPr/>
      <dgm:t>
        <a:bodyPr/>
        <a:lstStyle/>
        <a:p>
          <a:endParaRPr lang="es-ES"/>
        </a:p>
      </dgm:t>
    </dgm:pt>
    <dgm:pt modelId="{F2EDB408-9EA7-470D-883B-CF76DC5D7C1D}" type="sibTrans" cxnId="{3A99AB2E-D1E4-4810-820A-91F26F984FA6}">
      <dgm:prSet/>
      <dgm:spPr/>
      <dgm:t>
        <a:bodyPr/>
        <a:lstStyle/>
        <a:p>
          <a:endParaRPr lang="es-ES"/>
        </a:p>
      </dgm:t>
    </dgm:pt>
    <dgm:pt modelId="{2D74E2B9-FE70-4E1C-B898-E7E595B42BC0}">
      <dgm:prSet phldrT="[Texto]"/>
      <dgm:spPr/>
      <dgm:t>
        <a:bodyPr/>
        <a:lstStyle/>
        <a:p>
          <a:r>
            <a:rPr lang="es-ES" dirty="0"/>
            <a:t> 5min</a:t>
          </a:r>
        </a:p>
      </dgm:t>
    </dgm:pt>
    <dgm:pt modelId="{C959A00E-6D62-4B48-AEFC-B6750EBCCE7B}" type="parTrans" cxnId="{5F9E9482-C4C0-4B87-8871-FF09A900A1B5}">
      <dgm:prSet/>
      <dgm:spPr/>
      <dgm:t>
        <a:bodyPr/>
        <a:lstStyle/>
        <a:p>
          <a:endParaRPr lang="es-ES"/>
        </a:p>
      </dgm:t>
    </dgm:pt>
    <dgm:pt modelId="{817164EB-CEEA-4427-BFFA-9BCA299923F4}" type="sibTrans" cxnId="{5F9E9482-C4C0-4B87-8871-FF09A900A1B5}">
      <dgm:prSet/>
      <dgm:spPr/>
      <dgm:t>
        <a:bodyPr/>
        <a:lstStyle/>
        <a:p>
          <a:endParaRPr lang="es-ES"/>
        </a:p>
      </dgm:t>
    </dgm:pt>
    <dgm:pt modelId="{C1164A2D-1886-4E1F-ABEE-C176EE610B62}">
      <dgm:prSet phldrT="[Texto]"/>
      <dgm:spPr/>
      <dgm:t>
        <a:bodyPr/>
        <a:lstStyle/>
        <a:p>
          <a:endParaRPr lang="es-ES" dirty="0"/>
        </a:p>
      </dgm:t>
    </dgm:pt>
    <dgm:pt modelId="{75F5A1B6-9311-413C-B0C8-3614B8FAF8BF}" type="parTrans" cxnId="{B3A3C24E-89C6-4B7C-8F02-40EB5B68AAFB}">
      <dgm:prSet/>
      <dgm:spPr/>
      <dgm:t>
        <a:bodyPr/>
        <a:lstStyle/>
        <a:p>
          <a:endParaRPr lang="es-ES"/>
        </a:p>
      </dgm:t>
    </dgm:pt>
    <dgm:pt modelId="{396B8D2A-9B02-4B06-8F59-6659DF5CAD4E}" type="sibTrans" cxnId="{B3A3C24E-89C6-4B7C-8F02-40EB5B68AAFB}">
      <dgm:prSet/>
      <dgm:spPr/>
      <dgm:t>
        <a:bodyPr/>
        <a:lstStyle/>
        <a:p>
          <a:endParaRPr lang="es-ES"/>
        </a:p>
      </dgm:t>
    </dgm:pt>
    <dgm:pt modelId="{00D74489-E924-4839-A011-4EAA8EF20C09}">
      <dgm:prSet phldrT="[Texto]"/>
      <dgm:spPr/>
      <dgm:t>
        <a:bodyPr/>
        <a:lstStyle/>
        <a:p>
          <a:r>
            <a:rPr lang="es-ES" dirty="0"/>
            <a:t>Socialización</a:t>
          </a:r>
        </a:p>
      </dgm:t>
    </dgm:pt>
    <dgm:pt modelId="{DF6A0111-3EED-4051-88BE-7D36CBFE5307}" type="parTrans" cxnId="{7CF148F3-9AE6-48A5-AE18-8CB106C607AF}">
      <dgm:prSet/>
      <dgm:spPr/>
      <dgm:t>
        <a:bodyPr/>
        <a:lstStyle/>
        <a:p>
          <a:endParaRPr lang="es-ES"/>
        </a:p>
      </dgm:t>
    </dgm:pt>
    <dgm:pt modelId="{A6646702-99DA-4DE4-9A12-3555791B04D2}" type="sibTrans" cxnId="{7CF148F3-9AE6-48A5-AE18-8CB106C607AF}">
      <dgm:prSet/>
      <dgm:spPr/>
      <dgm:t>
        <a:bodyPr/>
        <a:lstStyle/>
        <a:p>
          <a:endParaRPr lang="es-ES"/>
        </a:p>
      </dgm:t>
    </dgm:pt>
    <dgm:pt modelId="{843CB449-83AF-4BBC-8B54-0E2ECFACB859}" type="pres">
      <dgm:prSet presAssocID="{EAFABD55-8D88-409E-8B63-7C590D242F4B}" presName="rootnode" presStyleCnt="0">
        <dgm:presLayoutVars>
          <dgm:chMax/>
          <dgm:chPref/>
          <dgm:dir/>
          <dgm:animLvl val="lvl"/>
        </dgm:presLayoutVars>
      </dgm:prSet>
      <dgm:spPr/>
    </dgm:pt>
    <dgm:pt modelId="{8BEF9B00-0270-4671-B39D-CE83022A0BBD}" type="pres">
      <dgm:prSet presAssocID="{10A1B217-8519-485A-923E-59B4F687D459}" presName="composite" presStyleCnt="0"/>
      <dgm:spPr/>
    </dgm:pt>
    <dgm:pt modelId="{F7BE32CD-EFD9-49B1-A1ED-558451F1D7A8}" type="pres">
      <dgm:prSet presAssocID="{10A1B217-8519-485A-923E-59B4F687D459}" presName="bentUpArrow1" presStyleLbl="alignImgPlace1" presStyleIdx="0" presStyleCnt="3"/>
      <dgm:spPr/>
    </dgm:pt>
    <dgm:pt modelId="{2468C423-FF4C-47EF-B053-4045E0911481}" type="pres">
      <dgm:prSet presAssocID="{10A1B217-8519-485A-923E-59B4F687D459}" presName="ParentText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890CD2DD-6A91-4764-8C0D-CBC98E34639E}" type="pres">
      <dgm:prSet presAssocID="{10A1B217-8519-485A-923E-59B4F687D459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B8330D92-081A-4D5E-A7F6-DBDE74B8C5D6}" type="pres">
      <dgm:prSet presAssocID="{376769CC-5CED-4103-99E0-904D330D6736}" presName="sibTrans" presStyleCnt="0"/>
      <dgm:spPr/>
    </dgm:pt>
    <dgm:pt modelId="{2827F15D-2537-481A-B61C-3D83ED92AB46}" type="pres">
      <dgm:prSet presAssocID="{6AD2E8AF-CF4B-46CE-9DC1-1A2E561F0140}" presName="composite" presStyleCnt="0"/>
      <dgm:spPr/>
    </dgm:pt>
    <dgm:pt modelId="{44F85AB0-E55F-4787-84C7-17269CF62A3B}" type="pres">
      <dgm:prSet presAssocID="{6AD2E8AF-CF4B-46CE-9DC1-1A2E561F0140}" presName="bentUpArrow1" presStyleLbl="alignImgPlace1" presStyleIdx="1" presStyleCnt="3"/>
      <dgm:spPr/>
    </dgm:pt>
    <dgm:pt modelId="{931C9511-906B-4B65-ABF1-7E61D98D58D0}" type="pres">
      <dgm:prSet presAssocID="{6AD2E8AF-CF4B-46CE-9DC1-1A2E561F0140}" presName="ParentText" presStyleLbl="node1" presStyleIdx="1" presStyleCnt="4">
        <dgm:presLayoutVars>
          <dgm:chMax val="1"/>
          <dgm:chPref val="1"/>
          <dgm:bulletEnabled val="1"/>
        </dgm:presLayoutVars>
      </dgm:prSet>
      <dgm:spPr/>
    </dgm:pt>
    <dgm:pt modelId="{C10F0DFF-E86C-42B9-A487-95732E9AC2A7}" type="pres">
      <dgm:prSet presAssocID="{6AD2E8AF-CF4B-46CE-9DC1-1A2E561F0140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6918F2E1-FCA9-45E6-AB9C-7A8C9E13C32B}" type="pres">
      <dgm:prSet presAssocID="{A133544E-B451-4040-AA22-13B54CB830CF}" presName="sibTrans" presStyleCnt="0"/>
      <dgm:spPr/>
    </dgm:pt>
    <dgm:pt modelId="{F1530E51-9FCB-4B85-B00F-60FA65448B3B}" type="pres">
      <dgm:prSet presAssocID="{30871830-5ACB-4483-A65B-9A29CDC704F7}" presName="composite" presStyleCnt="0"/>
      <dgm:spPr/>
    </dgm:pt>
    <dgm:pt modelId="{32297D47-56A6-4988-8A38-7AAF9ACE6CA3}" type="pres">
      <dgm:prSet presAssocID="{30871830-5ACB-4483-A65B-9A29CDC704F7}" presName="bentUpArrow1" presStyleLbl="alignImgPlace1" presStyleIdx="2" presStyleCnt="3"/>
      <dgm:spPr/>
    </dgm:pt>
    <dgm:pt modelId="{31DD171E-0106-4A7F-B5E8-97E011958F6B}" type="pres">
      <dgm:prSet presAssocID="{30871830-5ACB-4483-A65B-9A29CDC704F7}" presName="ParentText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B6BA5823-EC76-40A1-A900-3BAF1710D804}" type="pres">
      <dgm:prSet presAssocID="{30871830-5ACB-4483-A65B-9A29CDC704F7}" presName="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357D5810-248B-40A1-9CC1-C00C56D588BE}" type="pres">
      <dgm:prSet presAssocID="{F2EDB408-9EA7-470D-883B-CF76DC5D7C1D}" presName="sibTrans" presStyleCnt="0"/>
      <dgm:spPr/>
    </dgm:pt>
    <dgm:pt modelId="{3559D4A4-042B-4989-A616-0436E75690B8}" type="pres">
      <dgm:prSet presAssocID="{00D74489-E924-4839-A011-4EAA8EF20C09}" presName="composite" presStyleCnt="0"/>
      <dgm:spPr/>
    </dgm:pt>
    <dgm:pt modelId="{163D638D-19E1-4C6A-9883-A021486760A8}" type="pres">
      <dgm:prSet presAssocID="{00D74489-E924-4839-A011-4EAA8EF20C09}" presName="ParentText" presStyleLbl="node1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62988625-BFC5-4EEA-A159-F65748688D7B}" type="presOf" srcId="{EAFABD55-8D88-409E-8B63-7C590D242F4B}" destId="{843CB449-83AF-4BBC-8B54-0E2ECFACB859}" srcOrd="0" destOrd="0" presId="urn:microsoft.com/office/officeart/2005/8/layout/StepDownProcess"/>
    <dgm:cxn modelId="{3A99AB2E-D1E4-4810-820A-91F26F984FA6}" srcId="{EAFABD55-8D88-409E-8B63-7C590D242F4B}" destId="{30871830-5ACB-4483-A65B-9A29CDC704F7}" srcOrd="2" destOrd="0" parTransId="{5E1B753A-2BEC-48AC-80B9-96AB8E95D143}" sibTransId="{F2EDB408-9EA7-470D-883B-CF76DC5D7C1D}"/>
    <dgm:cxn modelId="{DCB3C031-7C8C-4454-BECB-BB06B0B771BC}" srcId="{EAFABD55-8D88-409E-8B63-7C590D242F4B}" destId="{6AD2E8AF-CF4B-46CE-9DC1-1A2E561F0140}" srcOrd="1" destOrd="0" parTransId="{9C4629BB-FA84-4C3B-977F-9FEA6C0EDF5B}" sibTransId="{A133544E-B451-4040-AA22-13B54CB830CF}"/>
    <dgm:cxn modelId="{9EC22C64-87AA-4E4C-AA70-BE720CD9BE14}" srcId="{6AD2E8AF-CF4B-46CE-9DC1-1A2E561F0140}" destId="{FFDBDB29-185B-465D-91E3-15507C5B4F1B}" srcOrd="0" destOrd="0" parTransId="{B4EB0917-3A39-4475-91DD-E8AF492FC347}" sibTransId="{07A5C714-EF75-4406-B7A1-EA250EF7FC09}"/>
    <dgm:cxn modelId="{BC597F4C-D0DD-4E79-9830-492C52A0D00F}" type="presOf" srcId="{FFDBDB29-185B-465D-91E3-15507C5B4F1B}" destId="{C10F0DFF-E86C-42B9-A487-95732E9AC2A7}" srcOrd="0" destOrd="0" presId="urn:microsoft.com/office/officeart/2005/8/layout/StepDownProcess"/>
    <dgm:cxn modelId="{B3A3C24E-89C6-4B7C-8F02-40EB5B68AAFB}" srcId="{10A1B217-8519-485A-923E-59B4F687D459}" destId="{C1164A2D-1886-4E1F-ABEE-C176EE610B62}" srcOrd="0" destOrd="0" parTransId="{75F5A1B6-9311-413C-B0C8-3614B8FAF8BF}" sibTransId="{396B8D2A-9B02-4B06-8F59-6659DF5CAD4E}"/>
    <dgm:cxn modelId="{75DE5074-C98F-4100-B8A6-033C2A635B02}" type="presOf" srcId="{10A1B217-8519-485A-923E-59B4F687D459}" destId="{2468C423-FF4C-47EF-B053-4045E0911481}" srcOrd="0" destOrd="0" presId="urn:microsoft.com/office/officeart/2005/8/layout/StepDownProcess"/>
    <dgm:cxn modelId="{F0F8C955-E280-462B-8625-952944FAFA3D}" type="presOf" srcId="{30871830-5ACB-4483-A65B-9A29CDC704F7}" destId="{31DD171E-0106-4A7F-B5E8-97E011958F6B}" srcOrd="0" destOrd="0" presId="urn:microsoft.com/office/officeart/2005/8/layout/StepDownProcess"/>
    <dgm:cxn modelId="{A0963F56-6EAD-4C25-8D03-717ABC3BBA08}" type="presOf" srcId="{6AD2E8AF-CF4B-46CE-9DC1-1A2E561F0140}" destId="{931C9511-906B-4B65-ABF1-7E61D98D58D0}" srcOrd="0" destOrd="0" presId="urn:microsoft.com/office/officeart/2005/8/layout/StepDownProcess"/>
    <dgm:cxn modelId="{F1F9417B-BD9B-417D-A7B9-C73F93C18C0F}" type="presOf" srcId="{C1164A2D-1886-4E1F-ABEE-C176EE610B62}" destId="{890CD2DD-6A91-4764-8C0D-CBC98E34639E}" srcOrd="0" destOrd="0" presId="urn:microsoft.com/office/officeart/2005/8/layout/StepDownProcess"/>
    <dgm:cxn modelId="{5F9E9482-C4C0-4B87-8871-FF09A900A1B5}" srcId="{30871830-5ACB-4483-A65B-9A29CDC704F7}" destId="{2D74E2B9-FE70-4E1C-B898-E7E595B42BC0}" srcOrd="0" destOrd="0" parTransId="{C959A00E-6D62-4B48-AEFC-B6750EBCCE7B}" sibTransId="{817164EB-CEEA-4427-BFFA-9BCA299923F4}"/>
    <dgm:cxn modelId="{87401BB5-C0BF-42B6-8E80-18CE54E37B17}" type="presOf" srcId="{03C4530B-1992-40E1-86CA-EC4D0ECB444D}" destId="{890CD2DD-6A91-4764-8C0D-CBC98E34639E}" srcOrd="0" destOrd="1" presId="urn:microsoft.com/office/officeart/2005/8/layout/StepDownProcess"/>
    <dgm:cxn modelId="{5BD3B6D5-259E-4794-9D67-2F78860B49AF}" type="presOf" srcId="{00D74489-E924-4839-A011-4EAA8EF20C09}" destId="{163D638D-19E1-4C6A-9883-A021486760A8}" srcOrd="0" destOrd="0" presId="urn:microsoft.com/office/officeart/2005/8/layout/StepDownProcess"/>
    <dgm:cxn modelId="{CDD5A2EC-D12F-4290-B5C7-E69528413DFC}" srcId="{EAFABD55-8D88-409E-8B63-7C590D242F4B}" destId="{10A1B217-8519-485A-923E-59B4F687D459}" srcOrd="0" destOrd="0" parTransId="{0B93C637-EF1C-4CC4-A4F7-645E163E979B}" sibTransId="{376769CC-5CED-4103-99E0-904D330D6736}"/>
    <dgm:cxn modelId="{04E9B8ED-5B31-4C1C-ABBB-5411998885A1}" type="presOf" srcId="{2D74E2B9-FE70-4E1C-B898-E7E595B42BC0}" destId="{B6BA5823-EC76-40A1-A900-3BAF1710D804}" srcOrd="0" destOrd="0" presId="urn:microsoft.com/office/officeart/2005/8/layout/StepDownProcess"/>
    <dgm:cxn modelId="{7CF148F3-9AE6-48A5-AE18-8CB106C607AF}" srcId="{EAFABD55-8D88-409E-8B63-7C590D242F4B}" destId="{00D74489-E924-4839-A011-4EAA8EF20C09}" srcOrd="3" destOrd="0" parTransId="{DF6A0111-3EED-4051-88BE-7D36CBFE5307}" sibTransId="{A6646702-99DA-4DE4-9A12-3555791B04D2}"/>
    <dgm:cxn modelId="{236FB1FE-9985-4B7F-BDBA-74A6230F6F8F}" srcId="{10A1B217-8519-485A-923E-59B4F687D459}" destId="{03C4530B-1992-40E1-86CA-EC4D0ECB444D}" srcOrd="1" destOrd="0" parTransId="{8CDE360D-3180-478B-BB77-39F8052B345E}" sibTransId="{78027812-FD25-4C43-8E66-75E56FF3FB47}"/>
    <dgm:cxn modelId="{1811CCD8-D2BE-43A5-8717-EEC00E269A0F}" type="presParOf" srcId="{843CB449-83AF-4BBC-8B54-0E2ECFACB859}" destId="{8BEF9B00-0270-4671-B39D-CE83022A0BBD}" srcOrd="0" destOrd="0" presId="urn:microsoft.com/office/officeart/2005/8/layout/StepDownProcess"/>
    <dgm:cxn modelId="{698270BA-5A2C-47E4-B937-82C430F8822D}" type="presParOf" srcId="{8BEF9B00-0270-4671-B39D-CE83022A0BBD}" destId="{F7BE32CD-EFD9-49B1-A1ED-558451F1D7A8}" srcOrd="0" destOrd="0" presId="urn:microsoft.com/office/officeart/2005/8/layout/StepDownProcess"/>
    <dgm:cxn modelId="{F6DEF802-94A4-4AF1-B826-AC907CE12CFE}" type="presParOf" srcId="{8BEF9B00-0270-4671-B39D-CE83022A0BBD}" destId="{2468C423-FF4C-47EF-B053-4045E0911481}" srcOrd="1" destOrd="0" presId="urn:microsoft.com/office/officeart/2005/8/layout/StepDownProcess"/>
    <dgm:cxn modelId="{F89A7EE0-4D4B-438E-96A1-757EC2026EAA}" type="presParOf" srcId="{8BEF9B00-0270-4671-B39D-CE83022A0BBD}" destId="{890CD2DD-6A91-4764-8C0D-CBC98E34639E}" srcOrd="2" destOrd="0" presId="urn:microsoft.com/office/officeart/2005/8/layout/StepDownProcess"/>
    <dgm:cxn modelId="{85C78A1A-BE14-4F17-83B7-EDB83B915B01}" type="presParOf" srcId="{843CB449-83AF-4BBC-8B54-0E2ECFACB859}" destId="{B8330D92-081A-4D5E-A7F6-DBDE74B8C5D6}" srcOrd="1" destOrd="0" presId="urn:microsoft.com/office/officeart/2005/8/layout/StepDownProcess"/>
    <dgm:cxn modelId="{D1C7A0B0-3CD2-4C8F-B0E8-2DA23A03957C}" type="presParOf" srcId="{843CB449-83AF-4BBC-8B54-0E2ECFACB859}" destId="{2827F15D-2537-481A-B61C-3D83ED92AB46}" srcOrd="2" destOrd="0" presId="urn:microsoft.com/office/officeart/2005/8/layout/StepDownProcess"/>
    <dgm:cxn modelId="{25015245-E840-4AD3-9712-C95B9F2D46F2}" type="presParOf" srcId="{2827F15D-2537-481A-B61C-3D83ED92AB46}" destId="{44F85AB0-E55F-4787-84C7-17269CF62A3B}" srcOrd="0" destOrd="0" presId="urn:microsoft.com/office/officeart/2005/8/layout/StepDownProcess"/>
    <dgm:cxn modelId="{014E553D-D16D-466B-BB0A-619F42B699EF}" type="presParOf" srcId="{2827F15D-2537-481A-B61C-3D83ED92AB46}" destId="{931C9511-906B-4B65-ABF1-7E61D98D58D0}" srcOrd="1" destOrd="0" presId="urn:microsoft.com/office/officeart/2005/8/layout/StepDownProcess"/>
    <dgm:cxn modelId="{B4DA068B-E894-4E41-B3FF-A5B7FD2AB63F}" type="presParOf" srcId="{2827F15D-2537-481A-B61C-3D83ED92AB46}" destId="{C10F0DFF-E86C-42B9-A487-95732E9AC2A7}" srcOrd="2" destOrd="0" presId="urn:microsoft.com/office/officeart/2005/8/layout/StepDownProcess"/>
    <dgm:cxn modelId="{1D1949BA-D8C3-4519-9E81-AF355A7D5E53}" type="presParOf" srcId="{843CB449-83AF-4BBC-8B54-0E2ECFACB859}" destId="{6918F2E1-FCA9-45E6-AB9C-7A8C9E13C32B}" srcOrd="3" destOrd="0" presId="urn:microsoft.com/office/officeart/2005/8/layout/StepDownProcess"/>
    <dgm:cxn modelId="{40AAE1EC-4B64-46AF-B423-B375D8272A15}" type="presParOf" srcId="{843CB449-83AF-4BBC-8B54-0E2ECFACB859}" destId="{F1530E51-9FCB-4B85-B00F-60FA65448B3B}" srcOrd="4" destOrd="0" presId="urn:microsoft.com/office/officeart/2005/8/layout/StepDownProcess"/>
    <dgm:cxn modelId="{EDABDC08-3726-427F-B6EE-22896DE6BF97}" type="presParOf" srcId="{F1530E51-9FCB-4B85-B00F-60FA65448B3B}" destId="{32297D47-56A6-4988-8A38-7AAF9ACE6CA3}" srcOrd="0" destOrd="0" presId="urn:microsoft.com/office/officeart/2005/8/layout/StepDownProcess"/>
    <dgm:cxn modelId="{BADF67DE-BF0A-4713-8DEA-4C72696D6B38}" type="presParOf" srcId="{F1530E51-9FCB-4B85-B00F-60FA65448B3B}" destId="{31DD171E-0106-4A7F-B5E8-97E011958F6B}" srcOrd="1" destOrd="0" presId="urn:microsoft.com/office/officeart/2005/8/layout/StepDownProcess"/>
    <dgm:cxn modelId="{08E61A81-FBAF-4735-8E81-A11BFF685147}" type="presParOf" srcId="{F1530E51-9FCB-4B85-B00F-60FA65448B3B}" destId="{B6BA5823-EC76-40A1-A900-3BAF1710D804}" srcOrd="2" destOrd="0" presId="urn:microsoft.com/office/officeart/2005/8/layout/StepDownProcess"/>
    <dgm:cxn modelId="{A1FD716F-6502-40D1-82CD-08E5D548C709}" type="presParOf" srcId="{843CB449-83AF-4BBC-8B54-0E2ECFACB859}" destId="{357D5810-248B-40A1-9CC1-C00C56D588BE}" srcOrd="5" destOrd="0" presId="urn:microsoft.com/office/officeart/2005/8/layout/StepDownProcess"/>
    <dgm:cxn modelId="{826B09D8-3E62-41FE-A8D7-A3F4EA61AF0B}" type="presParOf" srcId="{843CB449-83AF-4BBC-8B54-0E2ECFACB859}" destId="{3559D4A4-042B-4989-A616-0436E75690B8}" srcOrd="6" destOrd="0" presId="urn:microsoft.com/office/officeart/2005/8/layout/StepDownProcess"/>
    <dgm:cxn modelId="{F01AFFD5-8E7D-4A6F-8A3D-C6E6C29460B4}" type="presParOf" srcId="{3559D4A4-042B-4989-A616-0436E75690B8}" destId="{163D638D-19E1-4C6A-9883-A021486760A8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BE32CD-EFD9-49B1-A1ED-558451F1D7A8}">
      <dsp:nvSpPr>
        <dsp:cNvPr id="0" name=""/>
        <dsp:cNvSpPr/>
      </dsp:nvSpPr>
      <dsp:spPr>
        <a:xfrm rot="5400000">
          <a:off x="1171911" y="970045"/>
          <a:ext cx="851911" cy="96987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4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68C423-FF4C-47EF-B053-4045E0911481}">
      <dsp:nvSpPr>
        <dsp:cNvPr id="0" name=""/>
        <dsp:cNvSpPr/>
      </dsp:nvSpPr>
      <dsp:spPr>
        <a:xfrm>
          <a:off x="946206" y="25685"/>
          <a:ext cx="1434116" cy="1003835"/>
        </a:xfrm>
        <a:prstGeom prst="roundRect">
          <a:avLst>
            <a:gd name="adj" fmla="val 166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Formación de equipos</a:t>
          </a:r>
        </a:p>
      </dsp:txBody>
      <dsp:txXfrm>
        <a:off x="995218" y="74697"/>
        <a:ext cx="1336092" cy="905811"/>
      </dsp:txXfrm>
    </dsp:sp>
    <dsp:sp modelId="{890CD2DD-6A91-4764-8C0D-CBC98E34639E}">
      <dsp:nvSpPr>
        <dsp:cNvPr id="0" name=""/>
        <dsp:cNvSpPr/>
      </dsp:nvSpPr>
      <dsp:spPr>
        <a:xfrm>
          <a:off x="2380323" y="121423"/>
          <a:ext cx="1043040" cy="811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E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100" kern="1200" dirty="0">
              <a:solidFill>
                <a:schemeClr val="tx1"/>
              </a:solidFill>
            </a:rPr>
            <a:t> 2 Integrantes</a:t>
          </a:r>
        </a:p>
      </dsp:txBody>
      <dsp:txXfrm>
        <a:off x="2380323" y="121423"/>
        <a:ext cx="1043040" cy="811343"/>
      </dsp:txXfrm>
    </dsp:sp>
    <dsp:sp modelId="{44F85AB0-E55F-4787-84C7-17269CF62A3B}">
      <dsp:nvSpPr>
        <dsp:cNvPr id="0" name=""/>
        <dsp:cNvSpPr/>
      </dsp:nvSpPr>
      <dsp:spPr>
        <a:xfrm rot="5400000">
          <a:off x="2360946" y="2097684"/>
          <a:ext cx="851911" cy="96987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4">
            <a:tint val="50000"/>
            <a:hueOff val="5430266"/>
            <a:satOff val="-26493"/>
            <a:lumOff val="3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C9511-906B-4B65-ABF1-7E61D98D58D0}">
      <dsp:nvSpPr>
        <dsp:cNvPr id="0" name=""/>
        <dsp:cNvSpPr/>
      </dsp:nvSpPr>
      <dsp:spPr>
        <a:xfrm>
          <a:off x="2135241" y="1153323"/>
          <a:ext cx="1434116" cy="1003835"/>
        </a:xfrm>
        <a:prstGeom prst="roundRect">
          <a:avLst>
            <a:gd name="adj" fmla="val 16670"/>
          </a:avLst>
        </a:prstGeom>
        <a:solidFill>
          <a:schemeClr val="accent4">
            <a:hueOff val="3266964"/>
            <a:satOff val="-13592"/>
            <a:lumOff val="32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Actividad a desarrollar en salas o de forma individual</a:t>
          </a:r>
        </a:p>
      </dsp:txBody>
      <dsp:txXfrm>
        <a:off x="2184253" y="1202335"/>
        <a:ext cx="1336092" cy="905811"/>
      </dsp:txXfrm>
    </dsp:sp>
    <dsp:sp modelId="{C10F0DFF-E86C-42B9-A487-95732E9AC2A7}">
      <dsp:nvSpPr>
        <dsp:cNvPr id="0" name=""/>
        <dsp:cNvSpPr/>
      </dsp:nvSpPr>
      <dsp:spPr>
        <a:xfrm>
          <a:off x="3569358" y="1249062"/>
          <a:ext cx="1043040" cy="811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100" kern="1200" dirty="0"/>
            <a:t>Revisión de la lista de cotejo/rúbrica</a:t>
          </a:r>
        </a:p>
      </dsp:txBody>
      <dsp:txXfrm>
        <a:off x="3569358" y="1249062"/>
        <a:ext cx="1043040" cy="811343"/>
      </dsp:txXfrm>
    </dsp:sp>
    <dsp:sp modelId="{32297D47-56A6-4988-8A38-7AAF9ACE6CA3}">
      <dsp:nvSpPr>
        <dsp:cNvPr id="0" name=""/>
        <dsp:cNvSpPr/>
      </dsp:nvSpPr>
      <dsp:spPr>
        <a:xfrm rot="5400000">
          <a:off x="3549981" y="3225322"/>
          <a:ext cx="851911" cy="96987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4">
            <a:tint val="50000"/>
            <a:hueOff val="10860531"/>
            <a:satOff val="-52986"/>
            <a:lumOff val="7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DD171E-0106-4A7F-B5E8-97E011958F6B}">
      <dsp:nvSpPr>
        <dsp:cNvPr id="0" name=""/>
        <dsp:cNvSpPr/>
      </dsp:nvSpPr>
      <dsp:spPr>
        <a:xfrm>
          <a:off x="3324277" y="2280961"/>
          <a:ext cx="1434116" cy="1003835"/>
        </a:xfrm>
        <a:prstGeom prst="roundRect">
          <a:avLst>
            <a:gd name="adj" fmla="val 16670"/>
          </a:avLst>
        </a:prstGeom>
        <a:solidFill>
          <a:schemeClr val="accent4">
            <a:hueOff val="6533927"/>
            <a:satOff val="-27185"/>
            <a:lumOff val="64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Tiempo asignado</a:t>
          </a:r>
        </a:p>
      </dsp:txBody>
      <dsp:txXfrm>
        <a:off x="3373289" y="2329973"/>
        <a:ext cx="1336092" cy="905811"/>
      </dsp:txXfrm>
    </dsp:sp>
    <dsp:sp modelId="{B6BA5823-EC76-40A1-A900-3BAF1710D804}">
      <dsp:nvSpPr>
        <dsp:cNvPr id="0" name=""/>
        <dsp:cNvSpPr/>
      </dsp:nvSpPr>
      <dsp:spPr>
        <a:xfrm>
          <a:off x="4758394" y="2376700"/>
          <a:ext cx="1043040" cy="811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100" kern="1200" dirty="0"/>
            <a:t> 5min</a:t>
          </a:r>
        </a:p>
      </dsp:txBody>
      <dsp:txXfrm>
        <a:off x="4758394" y="2376700"/>
        <a:ext cx="1043040" cy="811343"/>
      </dsp:txXfrm>
    </dsp:sp>
    <dsp:sp modelId="{163D638D-19E1-4C6A-9883-A021486760A8}">
      <dsp:nvSpPr>
        <dsp:cNvPr id="0" name=""/>
        <dsp:cNvSpPr/>
      </dsp:nvSpPr>
      <dsp:spPr>
        <a:xfrm>
          <a:off x="4513312" y="3408600"/>
          <a:ext cx="1434116" cy="1003835"/>
        </a:xfrm>
        <a:prstGeom prst="roundRect">
          <a:avLst>
            <a:gd name="adj" fmla="val 1667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Socialización</a:t>
          </a:r>
        </a:p>
      </dsp:txBody>
      <dsp:txXfrm>
        <a:off x="4562324" y="3457612"/>
        <a:ext cx="1336092" cy="9058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537369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78736B-8210-4B33-BCFF-1FD4CBF03F6F}" type="datetimeFigureOut">
              <a:rPr lang="es-419" smtClean="0"/>
              <a:t>12/4/2025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s-ES"/>
              <a:t>Ing. / Lic. / Téc. Nombre y Apellidos Completos</a:t>
            </a:r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0842AC-CEAC-4D08-ACB0-46774580EB5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07939882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F02C33E1-1EB3-4761-818B-4453E0665B43}"/>
              </a:ext>
            </a:extLst>
          </p:cNvPr>
          <p:cNvSpPr/>
          <p:nvPr userDrawn="1"/>
        </p:nvSpPr>
        <p:spPr>
          <a:xfrm>
            <a:off x="0" y="0"/>
            <a:ext cx="12191997" cy="3108959"/>
          </a:xfrm>
          <a:prstGeom prst="rect">
            <a:avLst/>
          </a:prstGeom>
          <a:solidFill>
            <a:srgbClr val="9E0000"/>
          </a:solidFill>
          <a:ln>
            <a:solidFill>
              <a:srgbClr val="8E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6BB461E-8734-480A-A025-128E27573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82276"/>
            <a:ext cx="9144000" cy="2387600"/>
          </a:xfrm>
        </p:spPr>
        <p:txBody>
          <a:bodyPr anchor="ctr">
            <a:normAutofit/>
          </a:bodyPr>
          <a:lstStyle>
            <a:lvl1pPr algn="ctr">
              <a:defRPr sz="5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419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8D2800-244F-4CDB-A87F-CAA519E41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3340777"/>
            <a:ext cx="7217783" cy="1923547"/>
          </a:xfrm>
        </p:spPr>
        <p:txBody>
          <a:bodyPr>
            <a:normAutofit/>
          </a:bodyPr>
          <a:lstStyle>
            <a:lvl1pPr marL="0" indent="0" algn="l">
              <a:buNone/>
              <a:defRPr sz="2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419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72E3685-A0A1-471D-9883-A481126E4680}"/>
              </a:ext>
            </a:extLst>
          </p:cNvPr>
          <p:cNvPicPr>
            <a:picLocks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3598528"/>
            <a:ext cx="1135380" cy="1204913"/>
          </a:xfrm>
          <a:prstGeom prst="rect">
            <a:avLst/>
          </a:prstGeom>
        </p:spPr>
      </p:pic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9BEB34B-BBC2-4638-953F-B15CA81D3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26AFC-6436-4AAB-AAFC-079BF2C8F919}" type="datetime1">
              <a:rPr lang="es-PE" smtClean="0"/>
              <a:t>12/04/2025</a:t>
            </a:fld>
            <a:endParaRPr lang="es-419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E086845F-1493-4C7B-975A-6D806EB25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Carlos Abilio, Angulo Zegarra</a:t>
            </a:r>
            <a:endParaRPr lang="es-419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C94A3398-D5B2-4C33-8688-C82416E0E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CE48-B596-4AF4-B601-8B0D6B0BFFBC}" type="slidenum">
              <a:rPr lang="es-419" smtClean="0"/>
              <a:t>‹Nº›</a:t>
            </a:fld>
            <a:endParaRPr lang="es-419"/>
          </a:p>
        </p:txBody>
      </p:sp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F6FF086C-D0B4-4CCF-A6F8-A2802C8582D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4472" y="3195294"/>
            <a:ext cx="322897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368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E88ECB-730D-4FB5-8EED-791971793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365125"/>
            <a:ext cx="7696199" cy="1004349"/>
          </a:xfrm>
        </p:spPr>
        <p:txBody>
          <a:bodyPr>
            <a:normAutofit/>
          </a:bodyPr>
          <a:lstStyle>
            <a:lvl1pPr algn="r">
              <a:defRPr sz="2800" b="1">
                <a:solidFill>
                  <a:srgbClr val="8E0000"/>
                </a:solidFill>
                <a:latin typeface="+mn-lt"/>
                <a:cs typeface="Aharoni" panose="02010803020104030203" pitchFamily="2" charset="-79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041991-FD1D-4C87-B48C-EC644036C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97753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419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049066A-F814-4BD4-933B-22791D1F77BF}"/>
              </a:ext>
            </a:extLst>
          </p:cNvPr>
          <p:cNvPicPr>
            <a:picLocks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1434" y="651511"/>
            <a:ext cx="709613" cy="722948"/>
          </a:xfrm>
          <a:prstGeom prst="rect">
            <a:avLst/>
          </a:prstGeom>
        </p:spPr>
      </p:pic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7D2F1522-174E-4AD5-80DB-F06E3644C203}"/>
              </a:ext>
            </a:extLst>
          </p:cNvPr>
          <p:cNvCxnSpPr/>
          <p:nvPr userDrawn="1"/>
        </p:nvCxnSpPr>
        <p:spPr>
          <a:xfrm>
            <a:off x="825131" y="6343287"/>
            <a:ext cx="10548000" cy="0"/>
          </a:xfrm>
          <a:prstGeom prst="line">
            <a:avLst/>
          </a:prstGeom>
          <a:ln w="25400">
            <a:solidFill>
              <a:srgbClr val="A8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fecha 8">
            <a:extLst>
              <a:ext uri="{FF2B5EF4-FFF2-40B4-BE49-F238E27FC236}">
                <a16:creationId xmlns:a16="http://schemas.microsoft.com/office/drawing/2014/main" id="{5C0670FF-2E7D-4445-B2EA-D132EDC73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35637-4DDE-4E18-9A54-9654FB1AF46E}" type="datetime1">
              <a:rPr lang="es-PE" smtClean="0"/>
              <a:t>12/04/2025</a:t>
            </a:fld>
            <a:endParaRPr lang="es-419" dirty="0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00C9239E-CB5F-4B4A-B03C-2807B7BDC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Ing. Carlos Abilio, Angulo Zegarra</a:t>
            </a:r>
            <a:endParaRPr lang="es-419" dirty="0"/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CA2D1FA3-3EC3-46C8-B41A-201BC0047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CE48-B596-4AF4-B601-8B0D6B0BFFBC}" type="slidenum">
              <a:rPr lang="es-419" smtClean="0"/>
              <a:t>‹Nº›</a:t>
            </a:fld>
            <a:endParaRPr lang="es-419"/>
          </a:p>
        </p:txBody>
      </p:sp>
      <p:pic>
        <p:nvPicPr>
          <p:cNvPr id="5" name="Imagen 4" descr="Texto&#10;&#10;Descripción generada automáticamente">
            <a:extLst>
              <a:ext uri="{FF2B5EF4-FFF2-40B4-BE49-F238E27FC236}">
                <a16:creationId xmlns:a16="http://schemas.microsoft.com/office/drawing/2014/main" id="{E2392941-3432-46F6-B044-8DFD9C05D0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31" y="360149"/>
            <a:ext cx="2737289" cy="1009325"/>
          </a:xfrm>
          <a:prstGeom prst="rect">
            <a:avLst/>
          </a:prstGeom>
        </p:spPr>
      </p:pic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E7FF3D2D-EF8D-4344-A7D3-79B5E1FC63C7}"/>
              </a:ext>
            </a:extLst>
          </p:cNvPr>
          <p:cNvCxnSpPr/>
          <p:nvPr userDrawn="1"/>
        </p:nvCxnSpPr>
        <p:spPr>
          <a:xfrm>
            <a:off x="827318" y="1553029"/>
            <a:ext cx="10566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58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0702F2-22AF-4E1F-9901-318E30F1B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1694E41-69ED-43C7-8D2C-088AAD2FF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E6455D-98BF-4A6D-AD36-1C555DE56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5C90-14B4-4644-88F7-23927713BDC4}" type="datetime1">
              <a:rPr lang="es-PE" smtClean="0"/>
              <a:t>12/04/2025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082340-4D64-4429-A211-E6A8207FE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Carlos Abilio, Angulo Zegarra</a:t>
            </a:r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F6FA21-1535-4EE5-A2EA-D4437B99C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CE48-B596-4AF4-B601-8B0D6B0BFFBC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39102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09485C-FADE-4DA2-98DA-F993A560B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7A58B1-963D-4D4C-A67B-527B84067F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1E16080-7793-42A8-9FBE-25500F05E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0E74B5A-9E8E-47A2-9DE2-6D27101FB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4B204-5300-4C08-B05A-8063FB0CFFD7}" type="datetime1">
              <a:rPr lang="es-PE" smtClean="0"/>
              <a:t>12/04/2025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066E6A-0410-43CD-8C8B-8772AB869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Carlos Abilio, Angulo Zegarra</a:t>
            </a:r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04CD762-DA5E-4BFC-98E8-7B3C8B6D6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CE48-B596-4AF4-B601-8B0D6B0BFFBC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011587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0A668-0B88-4D39-A7F2-7508479F7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0EAE96-8002-4944-BB18-BE65CB8ED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05A7D28-9872-4778-AAE3-DC5E3F76B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1FDE130-3CF0-4DE6-9179-8FDA07942B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792BD39-3241-43B4-ABC1-542C6801E8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522E731-CD5C-43D5-A3E1-504E6CCB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A104B-02BA-4D24-BB58-F8E33698993A}" type="datetime1">
              <a:rPr lang="es-PE" smtClean="0"/>
              <a:t>12/04/2025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DA1F27C-E14C-4B95-8177-2FFCC1B48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Carlos Abilio, Angulo Zegarra</a:t>
            </a:r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4D06CFA-DF66-47C5-AF68-32BCE3B88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CE48-B596-4AF4-B601-8B0D6B0BFFBC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20075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B896DB-4512-4C69-B5FF-35C16F28F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03FC47-7C1A-4297-9653-A1308F205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418AC-252F-4FA5-AEEF-327C4FBCC098}" type="datetime1">
              <a:rPr lang="es-PE" smtClean="0"/>
              <a:t>12/04/2025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256DDF0-56E0-44F7-A492-A60FA06A0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Carlos Abilio, Angulo Zegarra</a:t>
            </a:r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D0DA06E-598C-460E-BA12-4AAF3AF47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CE48-B596-4AF4-B601-8B0D6B0BFFBC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67057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F652A6-B5B5-427B-B7CD-441AC6109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DA3D5-1270-42C8-8BC2-23DC2D3F2B37}" type="datetime1">
              <a:rPr lang="es-PE" smtClean="0"/>
              <a:t>12/04/2025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31F37D9-6FCA-4CE5-8E3B-7B9CFD8E2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Carlos Abilio, Angulo Zegarra</a:t>
            </a:r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32ABD8E-9920-4B4C-9256-CA147318A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CE48-B596-4AF4-B601-8B0D6B0BFFBC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06992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BA854-6BBE-4E5A-81CC-6A8F7E8F6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089B8D-7592-4309-A9D0-17686B521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1DE970-106F-4D59-88E8-D12638EE19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50699D-7EED-4CE5-B92F-049EB002C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9125A-2D0C-4522-9016-9CFE6F1C3033}" type="datetime1">
              <a:rPr lang="es-PE" smtClean="0"/>
              <a:t>12/04/2025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0090AE-54FE-4E7E-B9DF-B20564467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Carlos Abilio, Angulo Zegarra</a:t>
            </a:r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D823AC-EF14-43F6-B23D-696B8552E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CE48-B596-4AF4-B601-8B0D6B0BFFBC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826414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32B5CB-D5D5-4BC1-95E6-E1AB02197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50A88F4-A55E-4E4B-81FD-42A43244BE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A5C7123-788F-4BB1-B930-8EA7A999F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193FAE-F84A-40D0-938A-889230176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AB3F5-F775-4007-84B3-7D0EF72C3705}" type="datetime1">
              <a:rPr lang="es-PE" smtClean="0"/>
              <a:t>12/04/2025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623A277-3A92-4FAB-9B55-F2FA8BF84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Carlos Abilio, Angulo Zegarra</a:t>
            </a:r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C0AE84-BE07-4281-BA9D-3726CB7A6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CE48-B596-4AF4-B601-8B0D6B0BFFBC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239970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5F649-C7D6-4244-8A24-967834B36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10EFB1-B22B-4CFE-8BDC-C3A26A58B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541EEE-9FE2-457A-A3DF-1C139E70D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67CF-48BF-4D3E-9435-C58A33F5CBC5}" type="datetime1">
              <a:rPr lang="es-PE" smtClean="0"/>
              <a:t>12/04/2025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84A49E-070B-417E-9F44-9A60E5141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Carlos Abilio, Angulo Zegarra</a:t>
            </a:r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FF99D2-BF7E-4FB1-AAD4-700CE6CE2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CE48-B596-4AF4-B601-8B0D6B0BFFBC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429050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80869C5-679B-4A8D-AEE6-6A692B9D46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1689CD9-C682-405B-8E49-64171E5A93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EB7D71-364C-4D7D-AC18-C70115341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E86AC-3927-4294-9606-CB26758B7C4F}" type="datetime1">
              <a:rPr lang="es-PE" smtClean="0"/>
              <a:t>12/04/2025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CA1C74-17FB-4B1C-9084-B41E0876E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Carlos Abilio, Angulo Zegarra</a:t>
            </a:r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99FDF6-3A99-4A49-9A1A-2EBB7800A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CE48-B596-4AF4-B601-8B0D6B0BFFBC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18341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9E000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9C17453-7CFA-4580-8624-1C69424D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A07536-B3FA-4BC8-B86A-B2A698306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5A1149-70BD-4A30-AAB5-DEF000046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D83ED-4E80-4D09-A8F9-71B14181F086}" type="datetime1">
              <a:rPr lang="es-PE" smtClean="0"/>
              <a:t>12/04/2025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E2A7B2-700A-486A-9597-D46152D86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Ing. Carlos Abilio, Angulo Zegarra</a:t>
            </a:r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09ABD2-818E-4FB7-B231-C3A6ABBB1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1CE48-B596-4AF4-B601-8B0D6B0BFFBC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043462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www.youtube.com/watch?v=lnx5-s53CwI" TargetMode="Externa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m5_i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m7_i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m14_i10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m15_i9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m16_i7.png"/><Relationship Id="rId3" Type="http://schemas.openxmlformats.org/officeDocument/2006/relationships/image" Target="../media/m16_i8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m17_i5.png"/><Relationship Id="rId3" Type="http://schemas.openxmlformats.org/officeDocument/2006/relationships/image" Target="../media/m17_i6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m18_i3.png"/><Relationship Id="rId3" Type="http://schemas.openxmlformats.org/officeDocument/2006/relationships/image" Target="../media/m18_i4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watch?v=lnx5-s53Cw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74AC50-E1DF-4208-97F6-57E13A2500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419" sz="3200" dirty="0"/>
              <a:t>PROGRAMA DE ESTUDIO</a:t>
            </a:r>
            <a:br>
              <a:rPr lang="es-419" sz="3200" dirty="0"/>
            </a:br>
            <a:r>
              <a:rPr lang="es-419" sz="3200" dirty="0"/>
              <a:t>Administración de Centros de Cómputo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FF68FD-B6BB-42A8-8615-600B086B0B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6070" y="3429000"/>
            <a:ext cx="7994075" cy="2514600"/>
          </a:xfrm>
        </p:spPr>
        <p:txBody>
          <a:bodyPr>
            <a:normAutofit lnSpcReduction="10000"/>
          </a:bodyPr>
          <a:lstStyle/>
          <a:p>
            <a:pPr algn="ctr"/>
            <a:r>
              <a:rPr lang="es-PE" sz="2000" b="1" dirty="0">
                <a:solidFill>
                  <a:srgbClr val="002060"/>
                </a:solidFill>
              </a:rPr>
              <a:t>MÓDULO</a:t>
            </a:r>
          </a:p>
          <a:p>
            <a:pPr algn="ctr"/>
            <a:r>
              <a:rPr lang="es-PE" sz="1500" dirty="0">
                <a:solidFill>
                  <a:srgbClr val="002060"/>
                </a:solidFill>
              </a:rPr>
              <a:t>N° 3: Gestión de Plataformas y Servicios de TI</a:t>
            </a:r>
          </a:p>
          <a:p>
            <a:pPr algn="ctr"/>
            <a:r>
              <a:rPr lang="es-PE" sz="1000" dirty="0">
                <a:solidFill>
                  <a:srgbClr val="002060"/>
                </a:solidFill>
              </a:rPr>
              <a:t> </a:t>
            </a:r>
          </a:p>
          <a:p>
            <a:pPr algn="ctr"/>
            <a:r>
              <a:rPr lang="es-PE" sz="2000" b="1" dirty="0">
                <a:solidFill>
                  <a:srgbClr val="002060"/>
                </a:solidFill>
              </a:rPr>
              <a:t>UNIDAD DIDÁCTICA</a:t>
            </a:r>
          </a:p>
          <a:p>
            <a:pPr algn="ctr"/>
            <a:r>
              <a:rPr lang="es-PE" sz="1700" dirty="0">
                <a:solidFill>
                  <a:srgbClr val="002060"/>
                </a:solidFill>
              </a:rPr>
              <a:t>Administración de Plataformas de TI</a:t>
            </a:r>
          </a:p>
        </p:txBody>
      </p:sp>
    </p:spTree>
    <p:extLst>
      <p:ext uri="{BB962C8B-B14F-4D97-AF65-F5344CB8AC3E}">
        <p14:creationId xmlns:p14="http://schemas.microsoft.com/office/powerpoint/2010/main" val="3852628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E881AE-360C-41B6-842F-D95E236BD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NORMAS DE CONVIVENCIA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526C07-C792-4EA2-8D38-81A22164B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smtClean="0"/>
              <a:t>23/11/2026</a:t>
            </a:r>
            <a:endParaRPr lang="es-419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3C6340-FB89-4E4E-9C64-12E96FC3E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Carlos Abilio, Angulo Zegarra</a:t>
            </a:r>
            <a:endParaRPr lang="es-419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31424F-3E55-42E2-A2E9-40F2EBEF0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CE48-B596-4AF4-B601-8B0D6B0BFFBC}" type="slidenum">
              <a:rPr lang="es-419" smtClean="0"/>
              <a:t>2</a:t>
            </a:fld>
            <a:endParaRPr lang="es-419"/>
          </a:p>
        </p:txBody>
      </p:sp>
      <p:sp>
        <p:nvSpPr>
          <p:cNvPr id="101" name="Marcador de contenido"/>
          <p:cNvSpPr>
            <a:spLocks noGrp="1"/>
          </p:cNvSpPr>
          <p:nvPr>
            <p:ph idx="1"/>
          </p:nvPr>
        </p:nvSpPr>
        <p:spPr>
          <a:xfrm>
            <a:off x="1500000" y="2200000"/>
            <a:ext cx="9200000" cy="36000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s-PE" dirty="0" sz="2400"/>
              <a:t>Llegar puntual y registrar la asistencia.</a:t>
            </a:r>
          </a:p>
          <a:p>
            <a:pPr>
              <a:spcBef>
                <a:spcPts val="600"/>
              </a:spcBef>
            </a:pPr>
            <a:r>
              <a:rPr lang="es-PE" dirty="0" sz="2400"/>
              <a:t>Mantener el celular en silencio durante la práctica.</a:t>
            </a:r>
          </a:p>
          <a:p>
            <a:pPr>
              <a:spcBef>
                <a:spcPts val="600"/>
              </a:spcBef>
            </a:pPr>
            <a:r>
              <a:rPr lang="es-PE" dirty="0" sz="2400"/>
              <a:t>Participar activamente y respetar la opinión de los compañeros.</a:t>
            </a:r>
          </a:p>
          <a:p>
            <a:pPr>
              <a:spcBef>
                <a:spcPts val="600"/>
              </a:spcBef>
            </a:pPr>
            <a:r>
              <a:rPr lang="es-PE" dirty="0" sz="2400"/>
              <a:t>Cuidar los equipos y el orden del laboratorio.</a:t>
            </a:r>
          </a:p>
          <a:p>
            <a:pPr>
              <a:spcBef>
                <a:spcPts val="600"/>
              </a:spcBef>
            </a:pPr>
            <a:r>
              <a:rPr lang="es-PE" dirty="0" sz="2400"/>
              <a:t>Guardar y entregar las evidencias de cada práctica.</a:t>
            </a:r>
          </a:p>
        </p:txBody>
      </p:sp>
    </p:spTree>
    <p:extLst>
      <p:ext uri="{BB962C8B-B14F-4D97-AF65-F5344CB8AC3E}">
        <p14:creationId xmlns:p14="http://schemas.microsoft.com/office/powerpoint/2010/main" val="166958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FCCD2-4F6E-4FFF-8714-50FF1FEB4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TEMA: Implementación y Pruebas del Proyecto Integrador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07E2C0-52C0-4CF2-B497-33FF3C5B2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smtClean="0"/>
              <a:t>23/11/2026</a:t>
            </a:r>
            <a:endParaRPr lang="es-419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C0D098-508C-4414-8EEF-AA3675E55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Carlos Abilio, Angulo Zegarra</a:t>
            </a:r>
            <a:endParaRPr lang="es-419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548F5E-E8E2-4C5B-8031-7F509BE70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CE48-B596-4AF4-B601-8B0D6B0BFFBC}" type="slidenum">
              <a:rPr lang="es-419" smtClean="0"/>
              <a:t>3</a:t>
            </a:fld>
            <a:endParaRPr lang="es-419"/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0C2AAAA1-E1D3-4B4F-9EA3-8FBC702F9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2000"/>
            <a:ext cx="10515600" cy="4191379"/>
          </a:xfrm>
        </p:spPr>
        <p:txBody>
          <a:bodyPr/>
          <a:lstStyle/>
          <a:p>
            <a:pPr algn="ctr">
              <a:spcBef>
                <a:spcPts val="600"/>
              </a:spcBef>
            </a:pPr>
            <a:r>
              <a:rPr lang="es-PE" dirty="0" sz="2800" b="1">
                <a:solidFill>
                  <a:srgbClr val="990011"/>
                </a:solidFill>
              </a:rPr>
              <a:t>Semana 15</a:t>
            </a:r>
          </a:p>
          <a:p>
            <a:pPr algn="ctr">
              <a:spcBef>
                <a:spcPts val="600"/>
              </a:spcBef>
            </a:pPr>
            <a:r>
              <a:rPr lang="es-PE" dirty="0" sz="2800">
                <a:solidFill>
                  <a:srgbClr val="990011"/>
                </a:solidFill>
              </a:rPr>
              <a:t>Fecha: 23/11/2026</a:t>
            </a:r>
          </a:p>
          <a:p>
            <a:pPr algn="ctr">
              <a:spcBef>
                <a:spcPts val="600"/>
              </a:spcBef>
            </a:pPr>
            <a:r>
              <a:rPr lang="es-PE" dirty="0" sz="2800">
                <a:solidFill>
                  <a:srgbClr val="990011"/>
                </a:solidFill>
              </a:rPr>
              <a:t>Docente: Ing. Carlos Abilio, Angulo Zegarra</a:t>
            </a:r>
          </a:p>
        </p:txBody>
      </p:sp>
    </p:spTree>
    <p:extLst>
      <p:ext uri="{BB962C8B-B14F-4D97-AF65-F5344CB8AC3E}">
        <p14:creationId xmlns:p14="http://schemas.microsoft.com/office/powerpoint/2010/main" val="1905944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433E8F-427E-4A09-A1B4-AF6823210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SABERES PREVIOS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86CCC6-E499-4DEE-98AF-25FE17AE4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2000"/>
            <a:ext cx="7987145" cy="4191378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s-PE" dirty="0" sz="2400" b="1"/>
              <a:t>Responde en voz alta:</a:t>
            </a:r>
          </a:p>
          <a:p>
            <a:pPr>
              <a:spcBef>
                <a:spcPts val="600"/>
              </a:spcBef>
            </a:pPr>
            <a:r>
              <a:rPr lang="es-PE" dirty="0" sz="2000"/>
              <a:t>¿Qué es una prueba de humo y para qué sirve?</a:t>
            </a:r>
          </a:p>
          <a:p>
            <a:pPr>
              <a:spcBef>
                <a:spcPts val="600"/>
              </a:spcBef>
            </a:pPr>
            <a:r>
              <a:rPr lang="es-PE" dirty="0" sz="2000"/>
              <a:t>¿Cómo compruebas que un servicio responde, no solo que está iniciado?</a:t>
            </a:r>
          </a:p>
          <a:p>
            <a:pPr>
              <a:spcBef>
                <a:spcPts val="600"/>
              </a:spcBef>
            </a:pPr>
            <a:r>
              <a:rPr lang="es-PE" dirty="0" sz="2000"/>
              <a:t>¿Por qué registrar cada corrección en Git?</a:t>
            </a:r>
          </a:p>
          <a:p>
            <a:pPr>
              <a:spcBef>
                <a:spcPts val="1400"/>
              </a:spcBef>
            </a:pPr>
            <a:r>
              <a:rPr lang="es-PE" dirty="0" sz="1500">
                <a:hlinkClick r:id="rId3"/>
              </a:rPr>
              <a:t>Video de apoyo: «Pruebas de Integración de Software» (YouTube)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A24445-7A7B-42F2-9737-538DD8785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smtClean="0"/>
              <a:t>23/11/2026</a:t>
            </a:r>
            <a:endParaRPr lang="es-419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5DDEC5-034C-440D-A05D-4E14F7588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Carlos Abilio, Angulo Zegarra</a:t>
            </a:r>
            <a:endParaRPr lang="es-419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F7F182-CEFC-43BE-B42A-A4E2F7454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CE48-B596-4AF4-B601-8B0D6B0BFFBC}" type="slidenum">
              <a:rPr lang="es-419" smtClean="0"/>
              <a:t>4</a:t>
            </a:fld>
            <a:endParaRPr lang="es-419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E364A5F-9B48-4BA3-9842-80DBCA7C2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0982" y="2271857"/>
            <a:ext cx="2112817" cy="323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584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D02B28-F3A0-4A88-B22A-CB38A089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CONFLICTO COGNITIVO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0F022E-4A50-43FB-8671-EABA94C0F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0000"/>
            <a:ext cx="5200000" cy="41000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s-PE" dirty="0" sz="2000" b="1">
                <a:solidFill>
                  <a:srgbClr val="990011"/>
                </a:solidFill>
              </a:rPr>
              <a:t>Situación: </a:t>
            </a:r>
            <a:r>
              <a:rPr lang="es-PE" dirty="0" sz="2000"/>
              <a:t>el equipo integró todos los servicios el día de la entrega y descubrió que el sitio no respondía; nadie había probado cada parte por separado.</a:t>
            </a:r>
          </a:p>
          <a:p>
            <a:pPr>
              <a:spcBef>
                <a:spcPts val="1400"/>
              </a:spcBef>
            </a:pPr>
            <a:r>
              <a:rPr lang="es-PE" dirty="0" sz="2000" b="1">
                <a:solidFill>
                  <a:srgbClr val="990011"/>
                </a:solidFill>
              </a:rPr>
              <a:t>Conflicto: </a:t>
            </a:r>
            <a:r>
              <a:rPr lang="es-PE" dirty="0" sz="2000"/>
              <a:t>¿cómo detectar las fallas durante la integración y no al final?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3B4731-FBCD-44BB-83EE-898D1EEAB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smtClean="0"/>
              <a:t>23/11/2026</a:t>
            </a:r>
            <a:endParaRPr lang="es-419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CDCFB1-368C-4183-B13E-93E73F5AA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Carlos Abilio, Angulo Zegarra</a:t>
            </a:r>
            <a:endParaRPr lang="es-419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8E6AA1-C8B8-41B9-A5C0-845ADBFBE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CE48-B596-4AF4-B601-8B0D6B0BFFBC}" type="slidenum">
              <a:rPr lang="es-419" smtClean="0"/>
              <a:t>5</a:t>
            </a:fld>
            <a:endParaRPr lang="es-419"/>
          </a:p>
        </p:txBody>
      </p:sp>
      <p:pic>
        <p:nvPicPr>
          <p:cNvPr id="102" name="Imagen" descr="Situación del conflicto cognitiv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0" y="2300000"/>
            <a:ext cx="3018008" cy="3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108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3A6FD2-CAA2-41A5-A279-54B6724FF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LOGRO DE LA SESIÓN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F001A9-AF56-4DF0-AD90-7BEB0534A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5346" y="1823661"/>
            <a:ext cx="9573491" cy="3762408"/>
          </a:xfrm>
        </p:spPr>
        <p:txBody>
          <a:bodyPr>
            <a:normAutofit/>
          </a:bodyPr>
          <a:lstStyle/>
          <a:p>
            <a:pPr algn="ctr">
              <a:spcBef>
                <a:spcPts val="600"/>
              </a:spcBef>
            </a:pPr>
            <a:r>
              <a:rPr lang="es-PE" dirty="0" sz="2800"/>
              <a:t>Al concluir la sesión los estudiantes implementan, integran, prueban y documentan una plataforma empresarial con servicios, seguridad, monitoreo y backup.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AF576E-9219-40BF-9C15-7ACC4E9D5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smtClean="0"/>
              <a:t>23/11/2026</a:t>
            </a:r>
            <a:endParaRPr lang="es-419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1ECFA7-B61F-404B-B0A2-16DDE593D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Carlos Abilio, Angulo Zegarra</a:t>
            </a:r>
            <a:endParaRPr lang="es-419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587D90-5F7B-4636-88FC-B886EB747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CE48-B596-4AF4-B601-8B0D6B0BFFBC}" type="slidenum">
              <a:rPr lang="es-419" smtClean="0"/>
              <a:t>6</a:t>
            </a:fld>
            <a:endParaRPr lang="es-419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EE8314B-96F7-4BBC-B9F7-BB6BDA981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63455"/>
            <a:ext cx="10515599" cy="376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138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0B1871-CF07-4A73-9EFC-23D7ED7F4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MARCO CONCEPTUAL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776EC0-8B23-474E-BD90-971C591F4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smtClean="0"/>
              <a:t>23/11/2026</a:t>
            </a:r>
            <a:endParaRPr lang="es-419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A83583-269D-4E3A-A375-7140CD9DF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Carlos Abilio, Angulo Zegarra</a:t>
            </a:r>
            <a:endParaRPr lang="es-419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B44D22-8B54-402B-8250-8D62CD8E6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CE48-B596-4AF4-B601-8B0D6B0BFFBC}" type="slidenum">
              <a:rPr lang="es-419" smtClean="0"/>
              <a:t>7</a:t>
            </a:fld>
            <a:endParaRPr lang="es-419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C984AA4B-D856-47B0-9436-BB22338C8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0000"/>
            <a:ext cx="5600000" cy="42000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s-PE" dirty="0" sz="1600" b="1">
                <a:solidFill>
                  <a:srgbClr val="990011"/>
                </a:solidFill>
              </a:rPr>
              <a:t>Integración: </a:t>
            </a:r>
            <a:r>
              <a:rPr lang="es-PE" dirty="0" sz="1600"/>
              <a:t>unir los servicios para que trabajen juntos.</a:t>
            </a:r>
          </a:p>
          <a:p>
            <a:pPr>
              <a:spcBef>
                <a:spcPts val="600"/>
              </a:spcBef>
            </a:pPr>
            <a:r>
              <a:rPr lang="es-PE" dirty="0" sz="1600" b="1">
                <a:solidFill>
                  <a:srgbClr val="990011"/>
                </a:solidFill>
              </a:rPr>
              <a:t>Prueba de humo: </a:t>
            </a:r>
            <a:r>
              <a:rPr lang="es-PE" dirty="0" sz="1600"/>
              <a:t>verificación rápida de que lo básico funciona.</a:t>
            </a:r>
          </a:p>
          <a:p>
            <a:pPr>
              <a:spcBef>
                <a:spcPts val="600"/>
              </a:spcBef>
            </a:pPr>
            <a:r>
              <a:rPr lang="es-PE" dirty="0" sz="1600" b="1">
                <a:solidFill>
                  <a:srgbClr val="990011"/>
                </a:solidFill>
              </a:rPr>
              <a:t>Disponibilidad: </a:t>
            </a:r>
            <a:r>
              <a:rPr lang="es-PE" dirty="0" sz="1600"/>
              <a:t>el servicio responde cuando se necesita.</a:t>
            </a:r>
          </a:p>
          <a:p>
            <a:pPr>
              <a:spcBef>
                <a:spcPts val="600"/>
              </a:spcBef>
            </a:pPr>
            <a:r>
              <a:rPr lang="es-PE" dirty="0" sz="1600" b="1">
                <a:solidFill>
                  <a:srgbClr val="990011"/>
                </a:solidFill>
              </a:rPr>
              <a:t>Defecto: </a:t>
            </a:r>
            <a:r>
              <a:rPr lang="es-PE" dirty="0" sz="1600"/>
              <a:t>falla detectada, con su causa y corrección.</a:t>
            </a:r>
          </a:p>
          <a:p>
            <a:pPr>
              <a:spcBef>
                <a:spcPts val="600"/>
              </a:spcBef>
            </a:pPr>
            <a:r>
              <a:rPr lang="es-PE" dirty="0" sz="1600" b="1">
                <a:solidFill>
                  <a:srgbClr val="990011"/>
                </a:solidFill>
              </a:rPr>
              <a:t>Documentación: </a:t>
            </a:r>
            <a:r>
              <a:rPr lang="es-PE" dirty="0" sz="1600"/>
              <a:t>README y evidencias para repetir el despliegue.</a:t>
            </a:r>
          </a:p>
        </p:txBody>
      </p:sp>
      <p:pic>
        <p:nvPicPr>
          <p:cNvPr id="103" name="Imagen" descr="Diagrama del marco conceptu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2715" y="2000000"/>
            <a:ext cx="1764570" cy="3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546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105518-EBED-4A61-B8EC-C48C78F3C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ACTIVIDAD EN EQUIPOS DE TRABAJO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433B50-0352-4514-B2D6-36D030330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smtClean="0"/>
              <a:t>23/11/2026</a:t>
            </a:r>
            <a:endParaRPr lang="es-419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842718-C4E2-4706-AAFD-433CCD130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Carlos Abilio, Angulo Zegarra</a:t>
            </a:r>
            <a:endParaRPr lang="es-419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59FB27-0F41-4063-9930-CA6C882BE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CE48-B596-4AF4-B601-8B0D6B0BFFBC}" type="slidenum">
              <a:rPr lang="es-419" smtClean="0"/>
              <a:t>8</a:t>
            </a:fld>
            <a:endParaRPr lang="es-419"/>
          </a:p>
        </p:txBody>
      </p:sp>
      <p:sp>
        <p:nvSpPr>
          <p:cNvPr id="120" name="Marcador de contenido"/>
          <p:cNvSpPr>
            <a:spLocks noGrp="1"/>
          </p:cNvSpPr>
          <p:nvPr>
            <p:ph idx="1"/>
          </p:nvPr>
        </p:nvSpPr>
        <p:spPr>
          <a:xfrm>
            <a:off x="838200" y="2067767"/>
            <a:ext cx="10515600" cy="4039496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s-PE" dirty="0" sz="1900" b="1">
                <a:solidFill>
                  <a:srgbClr val="990011"/>
                </a:solidFill>
              </a:rPr>
              <a:t>Reto: </a:t>
            </a:r>
            <a:r>
              <a:rPr lang="es-PE" dirty="0" sz="1900"/>
              <a:t>integrar y probar la plataforma del proyecto (equipos de 3, 60 minutos).</a:t>
            </a:r>
          </a:p>
          <a:p>
            <a:pPr>
              <a:spcBef>
                <a:spcPts val="600"/>
              </a:spcBef>
            </a:pPr>
            <a:r>
              <a:rPr lang="es-PE" dirty="0" sz="1700"/>
              <a:t>Levantar todos los servicios con Docker Compose.</a:t>
            </a:r>
          </a:p>
          <a:p>
            <a:pPr>
              <a:spcBef>
                <a:spcPts val="600"/>
              </a:spcBef>
            </a:pPr>
            <a:r>
              <a:rPr lang="es-PE" dirty="0" sz="1700"/>
              <a:t>Escribir pruebas.sh con una prueba de humo por servicio.</a:t>
            </a:r>
          </a:p>
          <a:p>
            <a:pPr>
              <a:spcBef>
                <a:spcPts val="600"/>
              </a:spcBef>
            </a:pPr>
            <a:r>
              <a:rPr lang="es-PE" dirty="0" sz="1700"/>
              <a:t>Registrar los defectos encontrados y corregirlos con commits.</a:t>
            </a:r>
          </a:p>
          <a:p>
            <a:pPr>
              <a:spcBef>
                <a:spcPts val="600"/>
              </a:spcBef>
            </a:pPr>
            <a:r>
              <a:rPr lang="es-PE" dirty="0" sz="1700"/>
              <a:t>Completar el README con despliegue, pruebas y respaldo.</a:t>
            </a:r>
          </a:p>
          <a:p>
            <a:pPr>
              <a:spcBef>
                <a:spcPts val="600"/>
              </a:spcBef>
            </a:pPr>
            <a:r>
              <a:rPr lang="es-PE" dirty="0" sz="1900" b="1">
                <a:solidFill>
                  <a:srgbClr val="990011"/>
                </a:solidFill>
              </a:rPr>
              <a:t>Evidencia: </a:t>
            </a:r>
            <a:r>
              <a:rPr lang="es-PE" dirty="0" sz="1900"/>
              <a:t>salida de pruebas.sh, registro de defectos, git log y README.</a:t>
            </a:r>
          </a:p>
        </p:txBody>
      </p:sp>
    </p:spTree>
    <p:extLst>
      <p:ext uri="{BB962C8B-B14F-4D97-AF65-F5344CB8AC3E}">
        <p14:creationId xmlns:p14="http://schemas.microsoft.com/office/powerpoint/2010/main" val="141843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511953-1E4D-499D-9AA3-93A81C94F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INSTRUMENTO DE EVALUACIÓN</a:t>
            </a:r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B20756CD-8947-4F89-BAF1-8C6D240683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4086543"/>
              </p:ext>
            </p:extLst>
          </p:nvPr>
        </p:nvGraphicFramePr>
        <p:xfrm>
          <a:off x="838200" y="1800000"/>
          <a:ext cx="10515600" cy="4300000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1500000"/>
                <a:gridCol w="2253900"/>
                <a:gridCol w="2253900"/>
                <a:gridCol w="2253900"/>
                <a:gridCol w="2253900"/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solidFill>
                            <a:srgbClr val="FFFFFF"/>
                          </a:solidFill>
                        </a:rPr>
                        <a:t>CRITERIO</a:t>
                      </a:r>
                    </a:p>
                  </a:txBody>
                  <a:tcPr marL="64008" marR="64008" marT="36576" marB="36576" anchor="ctr"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solidFill>
                            <a:srgbClr val="FFFFFF"/>
                          </a:solidFill>
                        </a:rPr>
                        <a:t>INICIAL (1)</a:t>
                      </a:r>
                    </a:p>
                  </a:txBody>
                  <a:tcPr marL="64008" marR="64008" marT="36576" marB="36576" anchor="ctr"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solidFill>
                            <a:srgbClr val="FFFFFF"/>
                          </a:solidFill>
                        </a:rPr>
                        <a:t>EN PROCESO (2)</a:t>
                      </a:r>
                    </a:p>
                  </a:txBody>
                  <a:tcPr marL="64008" marR="64008" marT="36576" marB="36576" anchor="ctr"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solidFill>
                            <a:srgbClr val="FFFFFF"/>
                          </a:solidFill>
                        </a:rPr>
                        <a:t>LOGRADO (4)</a:t>
                      </a:r>
                    </a:p>
                  </a:txBody>
                  <a:tcPr marL="64008" marR="64008" marT="36576" marB="36576" anchor="ctr"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solidFill>
                            <a:srgbClr val="FFFFFF"/>
                          </a:solidFill>
                        </a:rPr>
                        <a:t>DESTACADO (8)</a:t>
                      </a:r>
                    </a:p>
                  </a:txBody>
                  <a:tcPr marL="64008" marR="64008" marT="36576" marB="36576" anchor="ctr">
                    <a:solidFill>
                      <a:srgbClr val="990011"/>
                    </a:solidFill>
                  </a:tcPr>
                </a:tc>
              </a:tr>
              <a:tr h="1050000">
                <a:tc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solidFill>
                            <a:srgbClr val="990011"/>
                          </a:solidFill>
                        </a:rPr>
                        <a:t>Conceptual (4)</a:t>
                      </a:r>
                    </a:p>
                  </a:txBody>
                  <a:tcPr marL="64008" marR="64008" marT="36576" marB="36576" anchor="ctr">
                    <a:solidFill>
                      <a:srgbClr val="FB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100" dirty="0">
                          <a:solidFill>
                            <a:srgbClr val="3A1A1A"/>
                          </a:solidFill>
                        </a:rPr>
                        <a:t>No identifica integración, pruebas ni disponibilidad.</a:t>
                      </a:r>
                    </a:p>
                  </a:txBody>
                  <a:tcPr marL="64008" marR="64008" marT="36576" marB="36576" anchor="ctr">
                    <a:solidFill>
                      <a:srgbClr val="FB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100" dirty="0">
                          <a:solidFill>
                            <a:srgbClr val="3A1A1A"/>
                          </a:solidFill>
                        </a:rPr>
                        <a:t>Identifica parcialmente integración y pruebas.</a:t>
                      </a:r>
                    </a:p>
                  </a:txBody>
                  <a:tcPr marL="64008" marR="64008" marT="36576" marB="36576" anchor="ctr">
                    <a:solidFill>
                      <a:srgbClr val="FB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100" dirty="0">
                          <a:solidFill>
                            <a:srgbClr val="3A1A1A"/>
                          </a:solidFill>
                        </a:rPr>
                        <a:t>Explica integración, pruebas, disponibilidad y documentación.</a:t>
                      </a:r>
                    </a:p>
                  </a:txBody>
                  <a:tcPr marL="64008" marR="64008" marT="36576" marB="36576" anchor="ctr">
                    <a:solidFill>
                      <a:srgbClr val="FB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100" dirty="0">
                          <a:solidFill>
                            <a:srgbClr val="3A1A1A"/>
                          </a:solidFill>
                        </a:rPr>
                        <a:t>Fundamenta la estrategia de pruebas y su cobertura.</a:t>
                      </a:r>
                    </a:p>
                  </a:txBody>
                  <a:tcPr marL="64008" marR="64008" marT="36576" marB="36576" anchor="ctr">
                    <a:solidFill>
                      <a:srgbClr val="FBEDE8"/>
                    </a:solidFill>
                  </a:tcPr>
                </a:tc>
              </a:tr>
              <a:tr h="1050000">
                <a:tc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solidFill>
                            <a:srgbClr val="990011"/>
                          </a:solidFill>
                        </a:rPr>
                        <a:t>Procedimental (8)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100" dirty="0">
                          <a:solidFill>
                            <a:srgbClr val="3A1A1A"/>
                          </a:solidFill>
                        </a:rPr>
                        <a:t>No logra implementar ni probar la plataforma.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100" dirty="0">
                          <a:solidFill>
                            <a:srgbClr val="3A1A1A"/>
                          </a:solidFill>
                        </a:rPr>
                        <a:t>Implementa parcialmente; las pruebas son incompletas.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100" dirty="0">
                          <a:solidFill>
                            <a:srgbClr val="3A1A1A"/>
                          </a:solidFill>
                        </a:rPr>
                        <a:t>Implementa, integra, prueba, corrige y documenta.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100" dirty="0">
                          <a:solidFill>
                            <a:srgbClr val="3A1A1A"/>
                          </a:solidFill>
                        </a:rPr>
                        <a:t>Lo hace de forma autónoma y automatiza las pruebas.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1050000">
                <a:tc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solidFill>
                            <a:srgbClr val="990011"/>
                          </a:solidFill>
                        </a:rPr>
                        <a:t>Actitudinal (8)</a:t>
                      </a:r>
                    </a:p>
                  </a:txBody>
                  <a:tcPr marL="64008" marR="64008" marT="36576" marB="36576" anchor="ctr">
                    <a:solidFill>
                      <a:srgbClr val="FB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100" dirty="0">
                          <a:solidFill>
                            <a:srgbClr val="3A1A1A"/>
                          </a:solidFill>
                        </a:rPr>
                        <a:t>Participa de forma limitada; no cumple tareas.</a:t>
                      </a:r>
                    </a:p>
                  </a:txBody>
                  <a:tcPr marL="64008" marR="64008" marT="36576" marB="36576" anchor="ctr">
                    <a:solidFill>
                      <a:srgbClr val="FB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100" dirty="0">
                          <a:solidFill>
                            <a:srgbClr val="3A1A1A"/>
                          </a:solidFill>
                        </a:rPr>
                        <a:t>Cumple sus tareas de forma intermitente.</a:t>
                      </a:r>
                    </a:p>
                  </a:txBody>
                  <a:tcPr marL="64008" marR="64008" marT="36576" marB="36576" anchor="ctr">
                    <a:solidFill>
                      <a:srgbClr val="FB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100" dirty="0">
                          <a:solidFill>
                            <a:srgbClr val="3A1A1A"/>
                          </a:solidFill>
                        </a:rPr>
                        <a:t>Participa activamente y cumple las tareas.</a:t>
                      </a:r>
                    </a:p>
                  </a:txBody>
                  <a:tcPr marL="64008" marR="64008" marT="36576" marB="36576" anchor="ctr">
                    <a:solidFill>
                      <a:srgbClr val="FB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100" dirty="0">
                          <a:solidFill>
                            <a:srgbClr val="3A1A1A"/>
                          </a:solidFill>
                        </a:rPr>
                        <a:t>Muestra compromiso con el proyecto y apoya al equipo.</a:t>
                      </a:r>
                    </a:p>
                  </a:txBody>
                  <a:tcPr marL="64008" marR="64008" marT="36576" marB="36576" anchor="ctr">
                    <a:solidFill>
                      <a:srgbClr val="FBEDE8"/>
                    </a:solidFill>
                  </a:tcPr>
                </a:tc>
              </a:tr>
              <a:tr h="380000">
                <a:tc gridSpan="5">
                  <a:txBody>
                    <a:bodyPr/>
                    <a:lstStyle/>
                    <a:p>
                      <a:pPr algn="ctr"/>
                      <a:r>
                        <a:rPr lang="es-PE" sz="1100" b="1" dirty="0">
                          <a:solidFill>
                            <a:srgbClr val="3A0008"/>
                          </a:solidFill>
                        </a:rPr>
                        <a:t>TOTAL: 20 puntos  |  Mínimo aprobatorio: 13</a:t>
                      </a:r>
                    </a:p>
                  </a:txBody>
                  <a:tcPr marL="64008" marR="64008" marT="36576" marB="36576" anchor="ctr">
                    <a:solidFill>
                      <a:srgbClr val="E8B9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9E1051-8798-440E-BE96-DD6BA10C7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smtClean="0"/>
              <a:t>23/11/2026</a:t>
            </a:r>
            <a:endParaRPr lang="es-419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1C76D6-CB39-42E7-8AD7-5BA18BAF2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Carlos Abilio, Angulo Zegarra</a:t>
            </a:r>
            <a:endParaRPr lang="es-419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F85709-1AC0-4CC2-88BC-2837A3C09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CE48-B596-4AF4-B601-8B0D6B0BFFBC}" type="slidenum">
              <a:rPr lang="es-419" smtClean="0"/>
              <a:t>9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07205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83B107-B4BD-4AF8-AD39-7428B6C68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IDEAS FUERZA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1C2167-97FB-40F9-9A8E-0E8898E8C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6514"/>
            <a:ext cx="10515600" cy="4176864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s-PE" dirty="0" sz="2200"/>
              <a:t>Integra y prueba por partes, no todo al final.</a:t>
            </a:r>
          </a:p>
          <a:p>
            <a:pPr>
              <a:spcBef>
                <a:spcPts val="600"/>
              </a:spcBef>
            </a:pPr>
            <a:r>
              <a:rPr lang="es-PE" dirty="0" sz="2200"/>
              <a:t>Una prueba de humo detecta lo básico en segundos.</a:t>
            </a:r>
          </a:p>
          <a:p>
            <a:pPr>
              <a:spcBef>
                <a:spcPts val="600"/>
              </a:spcBef>
            </a:pPr>
            <a:r>
              <a:rPr lang="es-PE" dirty="0" sz="2200"/>
              <a:t>Cada defecto corregido se registra con un commit.</a:t>
            </a:r>
          </a:p>
          <a:p>
            <a:pPr>
              <a:spcBef>
                <a:spcPts val="600"/>
              </a:spcBef>
            </a:pPr>
            <a:r>
              <a:rPr lang="es-PE" dirty="0" sz="2200"/>
              <a:t>Lo que no está documentado no se puede repetir.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7A1CDE-8A92-4DDE-A4DA-C9EFD3AF9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smtClean="0"/>
              <a:t>23/11/2026</a:t>
            </a:r>
            <a:endParaRPr lang="es-419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339133-2600-40CF-87D0-DCC45C85B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Carlos Abilio, Angulo Zegarra</a:t>
            </a:r>
            <a:endParaRPr lang="es-419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F30317-47C5-4A89-86E6-A0FC11D21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CE48-B596-4AF4-B601-8B0D6B0BFFBC}" type="slidenum">
              <a:rPr lang="es-419" smtClean="0"/>
              <a:t>10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33627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D88F0C-2CB3-4E6D-87D3-2C9C9EB58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PREGUNTAS DE REFLEXIÓN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E5467C-320E-4BE2-BE84-03228ED52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smtClean="0"/>
              <a:t>23/11/2026</a:t>
            </a:r>
            <a:endParaRPr lang="es-419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DD886D-7180-4DC5-8468-5B147DA2E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Carlos Abilio, Angulo Zegarra</a:t>
            </a:r>
            <a:endParaRPr lang="es-419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26F523-E5C0-4596-89A9-CBC4FDFC0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CE48-B596-4AF4-B601-8B0D6B0BFFBC}" type="slidenum">
              <a:rPr lang="es-419" smtClean="0"/>
              <a:t>11</a:t>
            </a:fld>
            <a:endParaRPr lang="es-419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217B222C-A11C-4F8F-89B6-D2D258C68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s-PE" dirty="0" sz="2200"/>
              <a:t>¿Qué prueba de humo aplicarías a cada servicio de tu proyecto?</a:t>
            </a:r>
          </a:p>
          <a:p>
            <a:pPr>
              <a:spcBef>
                <a:spcPts val="600"/>
              </a:spcBef>
            </a:pPr>
            <a:r>
              <a:rPr lang="es-PE" dirty="0" sz="2200"/>
              <a:t>¿Cómo comprobarías que una corrección no rompió otra parte?</a:t>
            </a:r>
          </a:p>
          <a:p>
            <a:pPr>
              <a:spcBef>
                <a:spcPts val="600"/>
              </a:spcBef>
            </a:pPr>
            <a:r>
              <a:rPr lang="es-PE" dirty="0" sz="2200"/>
              <a:t>¿Qué incluirías en el README para que otra persona despliegue tu proyecto?</a:t>
            </a:r>
          </a:p>
        </p:txBody>
      </p:sp>
    </p:spTree>
    <p:extLst>
      <p:ext uri="{BB962C8B-B14F-4D97-AF65-F5344CB8AC3E}">
        <p14:creationId xmlns:p14="http://schemas.microsoft.com/office/powerpoint/2010/main" val="3772699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EBEBDF-E870-406D-A9AB-BA4819C4C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REFERENCIAS BIBLIOGRÁFICAS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73283E-3C26-466F-AC5C-77C96BF74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smtClean="0"/>
              <a:t>23/11/2026</a:t>
            </a:r>
            <a:endParaRPr lang="es-419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34DC87-BE6F-4A6E-88CC-20BBC9EF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Carlos Abilio, Angulo Zegarra</a:t>
            </a:r>
            <a:endParaRPr lang="es-419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830D64-3A9E-46BC-BFF3-F3DC41C17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CE48-B596-4AF4-B601-8B0D6B0BFFBC}" type="slidenum">
              <a:rPr lang="es-419" smtClean="0"/>
              <a:t>12</a:t>
            </a:fld>
            <a:endParaRPr lang="es-419"/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4CDA4F8-5363-4B37-B9E0-E6FC8838B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2971"/>
            <a:ext cx="10515600" cy="4220407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s-PE" dirty="0" sz="1600"/>
              <a:t>Docker Inc. (s. f.). Docker Compose documentation. https://docs.docker.com/compose/</a:t>
            </a:r>
          </a:p>
          <a:p>
            <a:pPr>
              <a:spcBef>
                <a:spcPts val="600"/>
              </a:spcBef>
            </a:pPr>
            <a:r>
              <a:rPr lang="es-PE" dirty="0" sz="1600"/>
              <a:t>Git. (s. f.). Documentación de Git. https://git-scm.com/doc</a:t>
            </a:r>
          </a:p>
          <a:p>
            <a:pPr>
              <a:spcBef>
                <a:spcPts val="600"/>
              </a:spcBef>
            </a:pPr>
            <a:r>
              <a:rPr lang="es-PE" dirty="0" sz="1600"/>
              <a:t>Pruebas de Integración de Software [Video]. YouTube. https://www.youtube.com/watch?v=lnx5-s53CwI</a:t>
            </a:r>
          </a:p>
        </p:txBody>
      </p:sp>
    </p:spTree>
    <p:extLst>
      <p:ext uri="{BB962C8B-B14F-4D97-AF65-F5344CB8AC3E}">
        <p14:creationId xmlns:p14="http://schemas.microsoft.com/office/powerpoint/2010/main" val="1352585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E860A5-4F5A-4792-A509-8EEC2A32C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99FA17-BF43-43E2-B1F6-BD202896D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 dirty="0"/>
          </a:p>
          <a:p>
            <a:endParaRPr lang="es-419" dirty="0"/>
          </a:p>
          <a:p>
            <a:endParaRPr lang="es-419" dirty="0"/>
          </a:p>
          <a:p>
            <a:endParaRPr lang="es-419" dirty="0"/>
          </a:p>
          <a:p>
            <a:endParaRPr lang="es-419" dirty="0"/>
          </a:p>
          <a:p>
            <a:endParaRPr lang="es-419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8729F4D-A8F6-4F3E-A011-16AE999D4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31CE48-B596-4AF4-B601-8B0D6B0BFFBC}" type="slidenum">
              <a:rPr lang="es-419" smtClean="0"/>
              <a:pPr/>
              <a:t>13</a:t>
            </a:fld>
            <a:endParaRPr lang="es-419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D7C2D2D-DD64-4B59-BC31-4A0DA281271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0" y="2439194"/>
            <a:ext cx="4762500" cy="3124200"/>
          </a:xfrm>
          <a:prstGeom prst="rect">
            <a:avLst/>
          </a:prstGeom>
        </p:spPr>
      </p:pic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E3E2C17-31BA-45F9-BC16-3B4F3B811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Carlos Abilio, Angulo Zegarra</a:t>
            </a:r>
            <a:endParaRPr lang="es-419" dirty="0"/>
          </a:p>
        </p:txBody>
      </p:sp>
      <p:sp>
        <p:nvSpPr>
          <p:cNvPr id="9" name="Marcador de fecha 8">
            <a:extLst>
              <a:ext uri="{FF2B5EF4-FFF2-40B4-BE49-F238E27FC236}">
                <a16:creationId xmlns:a16="http://schemas.microsoft.com/office/drawing/2014/main" id="{E69CDBA9-FBE3-40F5-BE17-41C196EF8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smtClean="0"/>
              <a:t>23/11/2026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319276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0B1871-CF07-4A73-9EFC-23D7ED7F4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ERRORES COMUNES Y CÓMO CORREGIRLOS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776EC0-8B23-474E-BD90-971C591F4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smtClean="0"/>
              <a:t>23/11/2026</a:t>
            </a:r>
            <a:endParaRPr lang="es-419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A83583-269D-4E3A-A375-7140CD9DF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Carlos Abilio, Angulo Zegarra</a:t>
            </a:r>
            <a:endParaRPr lang="es-419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B44D22-8B54-402B-8250-8D62CD8E6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CE48-B596-4AF4-B601-8B0D6B0BFFBC}" type="slidenum">
              <a:rPr lang="es-419" smtClean="0"/>
              <a:t>7</a:t>
            </a:fld>
            <a:endParaRPr lang="es-419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C984AA4B-D856-47B0-9436-BB22338C8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0000"/>
            <a:ext cx="10515600" cy="520000"/>
          </a:xfrm>
        </p:spPr>
        <p:txBody>
          <a:bodyPr/>
          <a:lstStyle/>
          <a:p>
            <a:pPr marL="0" indent="0">
              <a:buNone/>
            </a:pPr>
            <a:r>
              <a:rPr lang="es-PE" dirty="0" sz="1800"/>
              <a:t>Objetivo: reconocer los errores más frecuentes y saber cómo corregirlos.</a:t>
            </a:r>
          </a:p>
        </p:txBody>
      </p:sp>
      <p:pic>
        <p:nvPicPr>
          <p:cNvPr id="118" name="Imagen" descr="Errores de ejecució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50000"/>
            <a:ext cx="6000000" cy="1976744"/>
          </a:xfrm>
          <a:prstGeom prst="rect">
            <a:avLst/>
          </a:prstGeom>
        </p:spPr>
      </p:pic>
      <p:sp>
        <p:nvSpPr>
          <p:cNvPr id="119" name="Tarjeta"/>
          <p:cNvSpPr txBox="1"/>
          <p:nvPr/>
        </p:nvSpPr>
        <p:spPr>
          <a:xfrm>
            <a:off x="7000000" y="2350000"/>
            <a:ext cx="4350000" cy="3750000"/>
          </a:xfrm>
          <a:prstGeom prst="roundRect">
            <a:avLst>
              <a:gd name="adj" fmla="val 6000"/>
            </a:avLst>
          </a:prstGeom>
          <a:solidFill>
            <a:srgbClr val="FBEDE8"/>
          </a:solidFill>
          <a:ln w="12700">
            <a:solidFill>
              <a:srgbClr val="D4875A"/>
            </a:solidFill>
          </a:ln>
        </p:spPr>
        <p:txBody>
          <a:bodyPr wrap="square" lIns="137160" tIns="91440" rIns="137160" bIns="91440" anchor="t">
            <a:normAutofit/>
          </a:bodyPr>
          <a:lstStyle/>
          <a:p>
            <a:pPr>
              <a:spcBef>
                <a:spcPts val="900"/>
              </a:spcBef>
            </a:pPr>
            <a:r>
              <a:rPr lang="es-PE" dirty="0" sz="1300" b="1">
                <a:solidFill>
                  <a:srgbClr val="990011"/>
                </a:solidFill>
              </a:rPr>
              <a:t>1  Servicio no responde</a:t>
            </a:r>
          </a:p>
          <a:p>
            <a:pPr>
              <a:spcBef>
                <a:spcPts val="200"/>
              </a:spcBef>
            </a:pPr>
            <a:r>
              <a:rPr lang="es-PE" dirty="0" sz="1200" b="1">
                <a:solidFill>
                  <a:srgbClr val="3A1A1A"/>
                </a:solidFill>
              </a:rPr>
              <a:t>Causa: </a:t>
            </a:r>
            <a:r>
              <a:rPr lang="es-PE" dirty="0" sz="1200">
                <a:solidFill>
                  <a:srgbClr val="3A1A1A"/>
                </a:solidFill>
              </a:rPr>
              <a:t>el contenedor no inició o el puerto está mal.</a:t>
            </a:r>
          </a:p>
          <a:p>
            <a:pPr>
              <a:spcBef>
                <a:spcPts val="200"/>
              </a:spcBef>
            </a:pPr>
            <a:r>
              <a:rPr lang="es-PE" dirty="0" sz="1200" b="1">
                <a:solidFill>
                  <a:srgbClr val="3A1A1A"/>
                </a:solidFill>
              </a:rPr>
              <a:t>Solución: </a:t>
            </a:r>
            <a:r>
              <a:rPr lang="es-PE" dirty="0" sz="1200">
                <a:solidFill>
                  <a:srgbClr val="3A1A1A"/>
                </a:solidFill>
              </a:rPr>
              <a:t>revisar docker compose logs y el mapeo de puertos.</a:t>
            </a:r>
          </a:p>
          <a:p>
            <a:pPr>
              <a:spcBef>
                <a:spcPts val="900"/>
              </a:spcBef>
            </a:pPr>
            <a:r>
              <a:rPr lang="es-PE" dirty="0" sz="1300" b="1">
                <a:solidFill>
                  <a:srgbClr val="990011"/>
                </a:solidFill>
              </a:rPr>
              <a:t>2  Prueba engañosa</a:t>
            </a:r>
          </a:p>
          <a:p>
            <a:pPr>
              <a:spcBef>
                <a:spcPts val="200"/>
              </a:spcBef>
            </a:pPr>
            <a:r>
              <a:rPr lang="es-PE" dirty="0" sz="1200" b="1">
                <a:solidFill>
                  <a:srgbClr val="3A1A1A"/>
                </a:solidFill>
              </a:rPr>
              <a:t>Causa: </a:t>
            </a:r>
            <a:r>
              <a:rPr lang="es-PE" dirty="0" sz="1200">
                <a:solidFill>
                  <a:srgbClr val="3A1A1A"/>
                </a:solidFill>
              </a:rPr>
              <a:t>solo se verificó que el contenedor estaba Up.</a:t>
            </a:r>
          </a:p>
          <a:p>
            <a:pPr>
              <a:spcBef>
                <a:spcPts val="200"/>
              </a:spcBef>
            </a:pPr>
            <a:r>
              <a:rPr lang="es-PE" dirty="0" sz="1200" b="1">
                <a:solidFill>
                  <a:srgbClr val="3A1A1A"/>
                </a:solidFill>
              </a:rPr>
              <a:t>Solución: </a:t>
            </a:r>
            <a:r>
              <a:rPr lang="es-PE" dirty="0" sz="1200">
                <a:solidFill>
                  <a:srgbClr val="3A1A1A"/>
                </a:solidFill>
              </a:rPr>
              <a:t>probar con curl que responde (código 200).</a:t>
            </a:r>
          </a:p>
          <a:p>
            <a:pPr>
              <a:spcBef>
                <a:spcPts val="900"/>
              </a:spcBef>
            </a:pPr>
            <a:r>
              <a:rPr lang="es-PE" dirty="0" sz="1300" b="1">
                <a:solidFill>
                  <a:srgbClr val="990011"/>
                </a:solidFill>
              </a:rPr>
              <a:t>3  Cambios sin registrar</a:t>
            </a:r>
          </a:p>
          <a:p>
            <a:pPr>
              <a:spcBef>
                <a:spcPts val="200"/>
              </a:spcBef>
            </a:pPr>
            <a:r>
              <a:rPr lang="es-PE" dirty="0" sz="1200" b="1">
                <a:solidFill>
                  <a:srgbClr val="3A1A1A"/>
                </a:solidFill>
              </a:rPr>
              <a:t>Causa: </a:t>
            </a:r>
            <a:r>
              <a:rPr lang="es-PE" dirty="0" sz="1200">
                <a:solidFill>
                  <a:srgbClr val="3A1A1A"/>
                </a:solidFill>
              </a:rPr>
              <a:t>se corrigió sin commit.</a:t>
            </a:r>
          </a:p>
          <a:p>
            <a:pPr>
              <a:spcBef>
                <a:spcPts val="200"/>
              </a:spcBef>
            </a:pPr>
            <a:r>
              <a:rPr lang="es-PE" dirty="0" sz="1200" b="1">
                <a:solidFill>
                  <a:srgbClr val="3A1A1A"/>
                </a:solidFill>
              </a:rPr>
              <a:t>Solución: </a:t>
            </a:r>
            <a:r>
              <a:rPr lang="es-PE" dirty="0" sz="1200">
                <a:solidFill>
                  <a:srgbClr val="3A1A1A"/>
                </a:solidFill>
              </a:rPr>
              <a:t>un commit por defecto corregido.</a:t>
            </a:r>
          </a:p>
        </p:txBody>
      </p:sp>
    </p:spTree>
    <p:extLst>
      <p:ext uri="{BB962C8B-B14F-4D97-AF65-F5344CB8AC3E}">
        <p14:creationId xmlns:p14="http://schemas.microsoft.com/office/powerpoint/2010/main" val="2863546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0B1871-CF07-4A73-9EFC-23D7ED7F4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PRÁCTICA 4: DOCUMENTACIÓN README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776EC0-8B23-474E-BD90-971C591F4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smtClean="0"/>
              <a:t>23/11/2026</a:t>
            </a:r>
            <a:endParaRPr lang="es-419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A83583-269D-4E3A-A375-7140CD9DF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Carlos Abilio, Angulo Zegarra</a:t>
            </a:r>
            <a:endParaRPr lang="es-419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B44D22-8B54-402B-8250-8D62CD8E6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CE48-B596-4AF4-B601-8B0D6B0BFFBC}" type="slidenum">
              <a:rPr lang="es-419" smtClean="0"/>
              <a:t>7</a:t>
            </a:fld>
            <a:endParaRPr lang="es-419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C984AA4B-D856-47B0-9436-BB22338C8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0000"/>
            <a:ext cx="10515600" cy="520000"/>
          </a:xfrm>
        </p:spPr>
        <p:txBody>
          <a:bodyPr/>
          <a:lstStyle/>
          <a:p>
            <a:pPr marL="0" indent="0">
              <a:buNone/>
            </a:pPr>
            <a:r>
              <a:rPr lang="es-PE" dirty="0" sz="1800"/>
              <a:t>Objetivo: dejar instrucciones para repetir el despliegue y las pruebas.</a:t>
            </a:r>
          </a:p>
        </p:txBody>
      </p:sp>
      <p:pic>
        <p:nvPicPr>
          <p:cNvPr id="116" name="Imagen" descr="Captura de la práctic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50000"/>
            <a:ext cx="5402227" cy="3749999"/>
          </a:xfrm>
          <a:prstGeom prst="rect">
            <a:avLst/>
          </a:prstGeom>
        </p:spPr>
      </p:pic>
      <p:sp>
        <p:nvSpPr>
          <p:cNvPr id="117" name="Tarjeta"/>
          <p:cNvSpPr txBox="1"/>
          <p:nvPr/>
        </p:nvSpPr>
        <p:spPr>
          <a:xfrm>
            <a:off x="7000000" y="2350000"/>
            <a:ext cx="4350000" cy="3750000"/>
          </a:xfrm>
          <a:prstGeom prst="roundRect">
            <a:avLst>
              <a:gd name="adj" fmla="val 6000"/>
            </a:avLst>
          </a:prstGeom>
          <a:solidFill>
            <a:srgbClr val="FBEDE8"/>
          </a:solidFill>
          <a:ln w="12700">
            <a:solidFill>
              <a:srgbClr val="D4875A"/>
            </a:solidFill>
          </a:ln>
        </p:spPr>
        <p:txBody>
          <a:bodyPr wrap="square" lIns="137160" tIns="91440" rIns="137160" bIns="91440" anchor="t">
            <a:normAutofit/>
          </a:bodyPr>
          <a:lstStyle/>
          <a:p>
            <a:pPr marL="0" indent="0">
              <a:buNone/>
            </a:pPr>
            <a:r>
              <a:rPr lang="es-PE" dirty="0" sz="1300" b="1">
                <a:solidFill>
                  <a:srgbClr val="990011"/>
                </a:solidFill>
              </a:rPr>
              <a:t>QUÉ HACE CADA PASO</a:t>
            </a:r>
          </a:p>
          <a:p>
            <a:pPr>
              <a:spcBef>
                <a:spcPts val="700"/>
              </a:spcBef>
            </a:pPr>
            <a:r>
              <a:rPr lang="es-PE" dirty="0" sz="1300" b="1">
                <a:solidFill>
                  <a:srgbClr val="990011"/>
                </a:solidFill>
              </a:rPr>
              <a:t>1  </a:t>
            </a:r>
            <a:r>
              <a:rPr lang="es-PE" dirty="0" sz="1300" b="1">
                <a:solidFill>
                  <a:srgbClr val="3A1A1A"/>
                </a:solidFill>
              </a:rPr>
              <a:t>Requisitos</a:t>
            </a:r>
            <a:r>
              <a:rPr lang="es-PE" dirty="0" sz="1300">
                <a:solidFill>
                  <a:srgbClr val="3A1A1A"/>
                </a:solidFill>
              </a:rPr>
              <a:t> — qué se necesita instalado</a:t>
            </a:r>
          </a:p>
          <a:p>
            <a:pPr>
              <a:spcBef>
                <a:spcPts val="700"/>
              </a:spcBef>
            </a:pPr>
            <a:r>
              <a:rPr lang="es-PE" dirty="0" sz="1300" b="1">
                <a:solidFill>
                  <a:srgbClr val="990011"/>
                </a:solidFill>
              </a:rPr>
              <a:t>2  </a:t>
            </a:r>
            <a:r>
              <a:rPr lang="es-PE" dirty="0" sz="1300" b="1">
                <a:solidFill>
                  <a:srgbClr val="3A1A1A"/>
                </a:solidFill>
              </a:rPr>
              <a:t>Despliegue</a:t>
            </a:r>
            <a:r>
              <a:rPr lang="es-PE" dirty="0" sz="1300">
                <a:solidFill>
                  <a:srgbClr val="3A1A1A"/>
                </a:solidFill>
              </a:rPr>
              <a:t> — comandos en orden</a:t>
            </a:r>
          </a:p>
          <a:p>
            <a:pPr>
              <a:spcBef>
                <a:spcPts val="700"/>
              </a:spcBef>
            </a:pPr>
            <a:r>
              <a:rPr lang="es-PE" dirty="0" sz="1300" b="1">
                <a:solidFill>
                  <a:srgbClr val="990011"/>
                </a:solidFill>
              </a:rPr>
              <a:t>3  </a:t>
            </a:r>
            <a:r>
              <a:rPr lang="es-PE" dirty="0" sz="1300" b="1">
                <a:solidFill>
                  <a:srgbClr val="3A1A1A"/>
                </a:solidFill>
              </a:rPr>
              <a:t>Pruebas y respaldo</a:t>
            </a:r>
            <a:r>
              <a:rPr lang="es-PE" dirty="0" sz="1300">
                <a:solidFill>
                  <a:srgbClr val="3A1A1A"/>
                </a:solidFill>
              </a:rPr>
              <a:t> — cómo verificar y recuperar</a:t>
            </a:r>
          </a:p>
        </p:txBody>
      </p:sp>
    </p:spTree>
    <p:extLst>
      <p:ext uri="{BB962C8B-B14F-4D97-AF65-F5344CB8AC3E}">
        <p14:creationId xmlns:p14="http://schemas.microsoft.com/office/powerpoint/2010/main" val="2863546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0B1871-CF07-4A73-9EFC-23D7ED7F4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PRÁCTICA 3: DEFECTOS Y GIT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776EC0-8B23-474E-BD90-971C591F4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smtClean="0"/>
              <a:t>23/11/2026</a:t>
            </a:r>
            <a:endParaRPr lang="es-419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A83583-269D-4E3A-A375-7140CD9DF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Carlos Abilio, Angulo Zegarra</a:t>
            </a:r>
            <a:endParaRPr lang="es-419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B44D22-8B54-402B-8250-8D62CD8E6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CE48-B596-4AF4-B601-8B0D6B0BFFBC}" type="slidenum">
              <a:rPr lang="es-419" smtClean="0"/>
              <a:t>7</a:t>
            </a:fld>
            <a:endParaRPr lang="es-419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C984AA4B-D856-47B0-9436-BB22338C8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0000"/>
            <a:ext cx="10515600" cy="520000"/>
          </a:xfrm>
        </p:spPr>
        <p:txBody>
          <a:bodyPr/>
          <a:lstStyle/>
          <a:p>
            <a:pPr marL="0" indent="0">
              <a:buNone/>
            </a:pPr>
            <a:r>
              <a:rPr lang="es-PE" dirty="0" sz="1800"/>
              <a:t>Objetivo: registrar cada defecto, su causa y su corrección.</a:t>
            </a:r>
          </a:p>
        </p:txBody>
      </p:sp>
      <p:pic>
        <p:nvPicPr>
          <p:cNvPr id="113" name="Imagen" descr="Captura de la práctic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50000"/>
            <a:ext cx="4586463" cy="2226868"/>
          </a:xfrm>
          <a:prstGeom prst="rect">
            <a:avLst/>
          </a:prstGeom>
        </p:spPr>
      </p:pic>
      <p:pic>
        <p:nvPicPr>
          <p:cNvPr id="114" name="Imagen" descr="Captura de la práctic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676868"/>
            <a:ext cx="4638079" cy="1423131"/>
          </a:xfrm>
          <a:prstGeom prst="rect">
            <a:avLst/>
          </a:prstGeom>
        </p:spPr>
      </p:pic>
      <p:sp>
        <p:nvSpPr>
          <p:cNvPr id="115" name="Tarjeta"/>
          <p:cNvSpPr txBox="1"/>
          <p:nvPr/>
        </p:nvSpPr>
        <p:spPr>
          <a:xfrm>
            <a:off x="7000000" y="2350000"/>
            <a:ext cx="4350000" cy="3750000"/>
          </a:xfrm>
          <a:prstGeom prst="roundRect">
            <a:avLst>
              <a:gd name="adj" fmla="val 6000"/>
            </a:avLst>
          </a:prstGeom>
          <a:solidFill>
            <a:srgbClr val="FBEDE8"/>
          </a:solidFill>
          <a:ln w="12700">
            <a:solidFill>
              <a:srgbClr val="D4875A"/>
            </a:solidFill>
          </a:ln>
        </p:spPr>
        <p:txBody>
          <a:bodyPr wrap="square" lIns="137160" tIns="91440" rIns="137160" bIns="91440" anchor="t">
            <a:normAutofit/>
          </a:bodyPr>
          <a:lstStyle/>
          <a:p>
            <a:pPr marL="0" indent="0">
              <a:buNone/>
            </a:pPr>
            <a:r>
              <a:rPr lang="es-PE" dirty="0" sz="1300" b="1">
                <a:solidFill>
                  <a:srgbClr val="990011"/>
                </a:solidFill>
              </a:rPr>
              <a:t>QUÉ HACE CADA PASO</a:t>
            </a:r>
          </a:p>
          <a:p>
            <a:pPr>
              <a:spcBef>
                <a:spcPts val="700"/>
              </a:spcBef>
            </a:pPr>
            <a:r>
              <a:rPr lang="es-PE" dirty="0" sz="1300" b="1">
                <a:solidFill>
                  <a:srgbClr val="990011"/>
                </a:solidFill>
              </a:rPr>
              <a:t>1  </a:t>
            </a:r>
            <a:r>
              <a:rPr lang="es-PE" dirty="0" sz="1300" b="1">
                <a:solidFill>
                  <a:srgbClr val="3A1A1A"/>
                </a:solidFill>
              </a:rPr>
              <a:t>Defecto</a:t>
            </a:r>
            <a:r>
              <a:rPr lang="es-PE" dirty="0" sz="1300">
                <a:solidFill>
                  <a:srgbClr val="3A1A1A"/>
                </a:solidFill>
              </a:rPr>
              <a:t> — qué falló y dónde</a:t>
            </a:r>
          </a:p>
          <a:p>
            <a:pPr>
              <a:spcBef>
                <a:spcPts val="700"/>
              </a:spcBef>
            </a:pPr>
            <a:r>
              <a:rPr lang="es-PE" dirty="0" sz="1300" b="1">
                <a:solidFill>
                  <a:srgbClr val="990011"/>
                </a:solidFill>
              </a:rPr>
              <a:t>2  </a:t>
            </a:r>
            <a:r>
              <a:rPr lang="es-PE" dirty="0" sz="1300" b="1">
                <a:solidFill>
                  <a:srgbClr val="3A1A1A"/>
                </a:solidFill>
              </a:rPr>
              <a:t>Causa</a:t>
            </a:r>
            <a:r>
              <a:rPr lang="es-PE" dirty="0" sz="1300">
                <a:solidFill>
                  <a:srgbClr val="3A1A1A"/>
                </a:solidFill>
              </a:rPr>
              <a:t> — por qué ocurrió</a:t>
            </a:r>
          </a:p>
          <a:p>
            <a:pPr>
              <a:spcBef>
                <a:spcPts val="700"/>
              </a:spcBef>
            </a:pPr>
            <a:r>
              <a:rPr lang="es-PE" dirty="0" sz="1300" b="1">
                <a:solidFill>
                  <a:srgbClr val="990011"/>
                </a:solidFill>
              </a:rPr>
              <a:t>3  </a:t>
            </a:r>
            <a:r>
              <a:rPr lang="es-PE" dirty="0" sz="1300" b="1">
                <a:solidFill>
                  <a:srgbClr val="3A1A1A"/>
                </a:solidFill>
              </a:rPr>
              <a:t>Commit</a:t>
            </a:r>
            <a:r>
              <a:rPr lang="es-PE" dirty="0" sz="1300">
                <a:solidFill>
                  <a:srgbClr val="3A1A1A"/>
                </a:solidFill>
              </a:rPr>
              <a:t> — una corrección por cambio, con mensaje claro</a:t>
            </a:r>
          </a:p>
        </p:txBody>
      </p:sp>
    </p:spTree>
    <p:extLst>
      <p:ext uri="{BB962C8B-B14F-4D97-AF65-F5344CB8AC3E}">
        <p14:creationId xmlns:p14="http://schemas.microsoft.com/office/powerpoint/2010/main" val="2863546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0B1871-CF07-4A73-9EFC-23D7ED7F4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PRÁCTICA 2: PRUEBA DE HUMO CON CURL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776EC0-8B23-474E-BD90-971C591F4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smtClean="0"/>
              <a:t>23/11/2026</a:t>
            </a:r>
            <a:endParaRPr lang="es-419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A83583-269D-4E3A-A375-7140CD9DF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Carlos Abilio, Angulo Zegarra</a:t>
            </a:r>
            <a:endParaRPr lang="es-419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B44D22-8B54-402B-8250-8D62CD8E6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CE48-B596-4AF4-B601-8B0D6B0BFFBC}" type="slidenum">
              <a:rPr lang="es-419" smtClean="0"/>
              <a:t>7</a:t>
            </a:fld>
            <a:endParaRPr lang="es-419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C984AA4B-D856-47B0-9436-BB22338C8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0000"/>
            <a:ext cx="10515600" cy="520000"/>
          </a:xfrm>
        </p:spPr>
        <p:txBody>
          <a:bodyPr/>
          <a:lstStyle/>
          <a:p>
            <a:pPr marL="0" indent="0">
              <a:buNone/>
            </a:pPr>
            <a:r>
              <a:rPr lang="es-PE" dirty="0" sz="1800"/>
              <a:t>Objetivo: comprobar con un script que el servicio responde.</a:t>
            </a:r>
          </a:p>
        </p:txBody>
      </p:sp>
      <p:pic>
        <p:nvPicPr>
          <p:cNvPr id="110" name="Imagen" descr="Captura de la práctic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50000"/>
            <a:ext cx="4964983" cy="2273568"/>
          </a:xfrm>
          <a:prstGeom prst="rect">
            <a:avLst/>
          </a:prstGeom>
        </p:spPr>
      </p:pic>
      <p:pic>
        <p:nvPicPr>
          <p:cNvPr id="111" name="Imagen" descr="Captura de la práctic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723569"/>
            <a:ext cx="3441075" cy="1376430"/>
          </a:xfrm>
          <a:prstGeom prst="rect">
            <a:avLst/>
          </a:prstGeom>
        </p:spPr>
      </p:pic>
      <p:sp>
        <p:nvSpPr>
          <p:cNvPr id="112" name="Tarjeta"/>
          <p:cNvSpPr txBox="1"/>
          <p:nvPr/>
        </p:nvSpPr>
        <p:spPr>
          <a:xfrm>
            <a:off x="7000000" y="2350000"/>
            <a:ext cx="4350000" cy="3750000"/>
          </a:xfrm>
          <a:prstGeom prst="roundRect">
            <a:avLst>
              <a:gd name="adj" fmla="val 6000"/>
            </a:avLst>
          </a:prstGeom>
          <a:solidFill>
            <a:srgbClr val="FBEDE8"/>
          </a:solidFill>
          <a:ln w="12700">
            <a:solidFill>
              <a:srgbClr val="D4875A"/>
            </a:solidFill>
          </a:ln>
        </p:spPr>
        <p:txBody>
          <a:bodyPr wrap="square" lIns="137160" tIns="91440" rIns="137160" bIns="91440" anchor="t">
            <a:normAutofit/>
          </a:bodyPr>
          <a:lstStyle/>
          <a:p>
            <a:pPr marL="0" indent="0">
              <a:buNone/>
            </a:pPr>
            <a:r>
              <a:rPr lang="es-PE" dirty="0" sz="1300" b="1">
                <a:solidFill>
                  <a:srgbClr val="990011"/>
                </a:solidFill>
              </a:rPr>
              <a:t>QUÉ HACE CADA PASO</a:t>
            </a:r>
          </a:p>
          <a:p>
            <a:pPr>
              <a:spcBef>
                <a:spcPts val="700"/>
              </a:spcBef>
            </a:pPr>
            <a:r>
              <a:rPr lang="es-PE" dirty="0" sz="1300" b="1">
                <a:solidFill>
                  <a:srgbClr val="990011"/>
                </a:solidFill>
              </a:rPr>
              <a:t>1  </a:t>
            </a:r>
            <a:r>
              <a:rPr lang="es-PE" dirty="0" sz="1300" b="1">
                <a:solidFill>
                  <a:srgbClr val="3A1A1A"/>
                </a:solidFill>
              </a:rPr>
              <a:t>curl -w</a:t>
            </a:r>
            <a:r>
              <a:rPr lang="es-PE" dirty="0" sz="1300">
                <a:solidFill>
                  <a:srgbClr val="3A1A1A"/>
                </a:solidFill>
              </a:rPr>
              <a:t> — devuelve el código HTTP</a:t>
            </a:r>
          </a:p>
          <a:p>
            <a:pPr>
              <a:spcBef>
                <a:spcPts val="700"/>
              </a:spcBef>
            </a:pPr>
            <a:r>
              <a:rPr lang="es-PE" dirty="0" sz="1300" b="1">
                <a:solidFill>
                  <a:srgbClr val="990011"/>
                </a:solidFill>
              </a:rPr>
              <a:t>2  </a:t>
            </a:r>
            <a:r>
              <a:rPr lang="es-PE" dirty="0" sz="1300" b="1">
                <a:solidFill>
                  <a:srgbClr val="3A1A1A"/>
                </a:solidFill>
              </a:rPr>
              <a:t>200</a:t>
            </a:r>
            <a:r>
              <a:rPr lang="es-PE" dirty="0" sz="1300">
                <a:solidFill>
                  <a:srgbClr val="3A1A1A"/>
                </a:solidFill>
              </a:rPr>
              <a:t> — el servicio responde correctamente</a:t>
            </a:r>
          </a:p>
          <a:p>
            <a:pPr>
              <a:spcBef>
                <a:spcPts val="700"/>
              </a:spcBef>
            </a:pPr>
            <a:r>
              <a:rPr lang="es-PE" dirty="0" sz="1300" b="1">
                <a:solidFill>
                  <a:srgbClr val="990011"/>
                </a:solidFill>
              </a:rPr>
              <a:t>3  </a:t>
            </a:r>
            <a:r>
              <a:rPr lang="es-PE" dirty="0" sz="1300" b="1">
                <a:solidFill>
                  <a:srgbClr val="3A1A1A"/>
                </a:solidFill>
              </a:rPr>
              <a:t>000</a:t>
            </a:r>
            <a:r>
              <a:rPr lang="es-PE" dirty="0" sz="1300">
                <a:solidFill>
                  <a:srgbClr val="3A1A1A"/>
                </a:solidFill>
              </a:rPr>
              <a:t> — no hubo conexión: el servicio falla</a:t>
            </a:r>
          </a:p>
          <a:p>
            <a:pPr>
              <a:spcBef>
                <a:spcPts val="700"/>
              </a:spcBef>
            </a:pPr>
            <a:r>
              <a:rPr lang="es-PE" dirty="0" sz="1300" b="1">
                <a:solidFill>
                  <a:srgbClr val="990011"/>
                </a:solidFill>
              </a:rPr>
              <a:t>4  </a:t>
            </a:r>
            <a:r>
              <a:rPr lang="es-PE" dirty="0" sz="1300" b="1">
                <a:solidFill>
                  <a:srgbClr val="3A1A1A"/>
                </a:solidFill>
              </a:rPr>
              <a:t>exit 1</a:t>
            </a:r>
            <a:r>
              <a:rPr lang="es-PE" dirty="0" sz="1300">
                <a:solidFill>
                  <a:srgbClr val="3A1A1A"/>
                </a:solidFill>
              </a:rPr>
              <a:t> — marca la prueba como fallida</a:t>
            </a:r>
          </a:p>
        </p:txBody>
      </p:sp>
    </p:spTree>
    <p:extLst>
      <p:ext uri="{BB962C8B-B14F-4D97-AF65-F5344CB8AC3E}">
        <p14:creationId xmlns:p14="http://schemas.microsoft.com/office/powerpoint/2010/main" val="2863546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0B1871-CF07-4A73-9EFC-23D7ED7F4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PRÁCTICA 1: INTEGRAR LOS SERVICIOS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776EC0-8B23-474E-BD90-971C591F4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smtClean="0"/>
              <a:t>23/11/2026</a:t>
            </a:r>
            <a:endParaRPr lang="es-419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A83583-269D-4E3A-A375-7140CD9DF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Carlos Abilio, Angulo Zegarra</a:t>
            </a:r>
            <a:endParaRPr lang="es-419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B44D22-8B54-402B-8250-8D62CD8E6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CE48-B596-4AF4-B601-8B0D6B0BFFBC}" type="slidenum">
              <a:rPr lang="es-419" smtClean="0"/>
              <a:t>7</a:t>
            </a:fld>
            <a:endParaRPr lang="es-419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C984AA4B-D856-47B0-9436-BB22338C8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0000"/>
            <a:ext cx="10515600" cy="520000"/>
          </a:xfrm>
        </p:spPr>
        <p:txBody>
          <a:bodyPr/>
          <a:lstStyle/>
          <a:p>
            <a:pPr marL="0" indent="0">
              <a:buNone/>
            </a:pPr>
            <a:r>
              <a:rPr lang="es-PE" dirty="0" sz="1800"/>
              <a:t>Objetivo: levantar la plataforma completa con un solo archivo.</a:t>
            </a:r>
          </a:p>
        </p:txBody>
      </p:sp>
      <p:pic>
        <p:nvPicPr>
          <p:cNvPr id="107" name="Imagen" descr="Captura de la práctic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50000"/>
            <a:ext cx="3763888" cy="3749999"/>
          </a:xfrm>
          <a:prstGeom prst="rect">
            <a:avLst/>
          </a:prstGeom>
        </p:spPr>
      </p:pic>
      <p:pic>
        <p:nvPicPr>
          <p:cNvPr id="108" name="Imagen" descr="Salida de la ejecució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00" y="2350000"/>
            <a:ext cx="4172549" cy="1900000"/>
          </a:xfrm>
          <a:prstGeom prst="rect">
            <a:avLst/>
          </a:prstGeom>
        </p:spPr>
      </p:pic>
      <p:sp>
        <p:nvSpPr>
          <p:cNvPr id="109" name="Tarjeta"/>
          <p:cNvSpPr txBox="1"/>
          <p:nvPr/>
        </p:nvSpPr>
        <p:spPr>
          <a:xfrm>
            <a:off x="7000000" y="4350000"/>
            <a:ext cx="4350000" cy="1750000"/>
          </a:xfrm>
          <a:prstGeom prst="roundRect">
            <a:avLst>
              <a:gd name="adj" fmla="val 6000"/>
            </a:avLst>
          </a:prstGeom>
          <a:solidFill>
            <a:srgbClr val="FBEDE8"/>
          </a:solidFill>
          <a:ln w="12700">
            <a:solidFill>
              <a:srgbClr val="D4875A"/>
            </a:solidFill>
          </a:ln>
        </p:spPr>
        <p:txBody>
          <a:bodyPr wrap="square" lIns="137160" tIns="91440" rIns="137160" bIns="91440" anchor="t">
            <a:normAutofit/>
          </a:bodyPr>
          <a:lstStyle/>
          <a:p>
            <a:pPr marL="0" indent="0">
              <a:buNone/>
            </a:pPr>
            <a:r>
              <a:rPr lang="es-PE" dirty="0" sz="1300" b="1">
                <a:solidFill>
                  <a:srgbClr val="990011"/>
                </a:solidFill>
              </a:rPr>
              <a:t>QUÉ HACE CADA PASO</a:t>
            </a:r>
          </a:p>
          <a:p>
            <a:pPr>
              <a:spcBef>
                <a:spcPts val="700"/>
              </a:spcBef>
            </a:pPr>
            <a:r>
              <a:rPr lang="es-PE" dirty="0" sz="1300" b="1">
                <a:solidFill>
                  <a:srgbClr val="990011"/>
                </a:solidFill>
              </a:rPr>
              <a:t>1  </a:t>
            </a:r>
            <a:r>
              <a:rPr lang="es-PE" dirty="0" sz="1300" b="1">
                <a:solidFill>
                  <a:srgbClr val="3A1A1A"/>
                </a:solidFill>
              </a:rPr>
              <a:t>web</a:t>
            </a:r>
            <a:r>
              <a:rPr lang="es-PE" dirty="0" sz="1300">
                <a:solidFill>
                  <a:srgbClr val="3A1A1A"/>
                </a:solidFill>
              </a:rPr>
              <a:t> — sitio publicado en el puerto 8080</a:t>
            </a:r>
          </a:p>
          <a:p>
            <a:pPr>
              <a:spcBef>
                <a:spcPts val="700"/>
              </a:spcBef>
            </a:pPr>
            <a:r>
              <a:rPr lang="es-PE" dirty="0" sz="1300" b="1">
                <a:solidFill>
                  <a:srgbClr val="990011"/>
                </a:solidFill>
              </a:rPr>
              <a:t>2  </a:t>
            </a:r>
            <a:r>
              <a:rPr lang="es-PE" dirty="0" sz="1300" b="1">
                <a:solidFill>
                  <a:srgbClr val="3A1A1A"/>
                </a:solidFill>
              </a:rPr>
              <a:t>prometheus</a:t>
            </a:r>
            <a:r>
              <a:rPr lang="es-PE" dirty="0" sz="1300">
                <a:solidFill>
                  <a:srgbClr val="3A1A1A"/>
                </a:solidFill>
              </a:rPr>
              <a:t> — recolecta métricas</a:t>
            </a:r>
          </a:p>
          <a:p>
            <a:pPr>
              <a:spcBef>
                <a:spcPts val="700"/>
              </a:spcBef>
            </a:pPr>
            <a:r>
              <a:rPr lang="es-PE" dirty="0" sz="1300" b="1">
                <a:solidFill>
                  <a:srgbClr val="990011"/>
                </a:solidFill>
              </a:rPr>
              <a:t>3  </a:t>
            </a:r>
            <a:r>
              <a:rPr lang="es-PE" dirty="0" sz="1300" b="1">
                <a:solidFill>
                  <a:srgbClr val="3A1A1A"/>
                </a:solidFill>
              </a:rPr>
              <a:t>grafana</a:t>
            </a:r>
            <a:r>
              <a:rPr lang="es-PE" dirty="0" sz="1300">
                <a:solidFill>
                  <a:srgbClr val="3A1A1A"/>
                </a:solidFill>
              </a:rPr>
              <a:t> — visualiza los indicadores</a:t>
            </a:r>
          </a:p>
        </p:txBody>
      </p:sp>
    </p:spTree>
    <p:extLst>
      <p:ext uri="{BB962C8B-B14F-4D97-AF65-F5344CB8AC3E}">
        <p14:creationId xmlns:p14="http://schemas.microsoft.com/office/powerpoint/2010/main" val="28635469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0B1871-CF07-4A73-9EFC-23D7ED7F4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VIDEO DE APOYO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776EC0-8B23-474E-BD90-971C591F4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smtClean="0"/>
              <a:t>23/11/2026</a:t>
            </a:r>
            <a:endParaRPr lang="es-419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A83583-269D-4E3A-A375-7140CD9DF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Ing. Carlos Abilio, Angulo Zegarra</a:t>
            </a:r>
            <a:endParaRPr lang="es-419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B44D22-8B54-402B-8250-8D62CD8E6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CE48-B596-4AF4-B601-8B0D6B0BFFBC}" type="slidenum">
              <a:rPr lang="es-419" smtClean="0"/>
              <a:t>7</a:t>
            </a:fld>
            <a:endParaRPr lang="es-419"/>
          </a:p>
        </p:txBody>
      </p:sp>
      <p:sp>
        <p:nvSpPr>
          <p:cNvPr id="104" name="Video de apoyo"/>
          <p:cNvSpPr txBox="1"/>
          <p:nvPr/>
        </p:nvSpPr>
        <p:spPr>
          <a:xfrm>
            <a:off x="838200" y="1900000"/>
            <a:ext cx="10515600" cy="1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90011"/>
            </a:solidFill>
          </a:ln>
        </p:spPr>
        <p:txBody>
          <a:bodyPr wrap="square" lIns="137160" tIns="91440" rIns="137160" bIns="91440" anchor="t">
            <a:normAutofit/>
          </a:bodyPr>
          <a:lstStyle/>
          <a:p>
            <a:pPr marL="0" indent="0">
              <a:buNone/>
            </a:pPr>
            <a:r>
              <a:rPr lang="es-PE" dirty="0" sz="1400" b="1">
                <a:solidFill>
                  <a:srgbClr val="990011"/>
                </a:solidFill>
              </a:rPr>
              <a:t>▶  VIDEO DE APOYO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s-PE" dirty="0" sz="2200" b="1">
                <a:solidFill>
                  <a:srgbClr val="3A1A1A"/>
                </a:solidFill>
                <a:hlinkClick r:id="rId2"/>
              </a:rPr>
              <a:t>Pruebas de Integración de Software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s-PE" dirty="0" sz="1500">
                <a:solidFill>
                  <a:srgbClr val="3A1A1A"/>
                </a:solidFill>
              </a:rPr>
              <a:t>Canal: YouTube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s-PE" dirty="0" sz="1300">
                <a:solidFill>
                  <a:srgbClr val="1F4E9A"/>
                </a:solidFill>
                <a:hlinkClick r:id="rId2"/>
              </a:rPr>
              <a:t>https://www.youtube.com/watch?v=lnx5-s53CwI</a:t>
            </a:r>
          </a:p>
        </p:txBody>
      </p:sp>
      <p:sp>
        <p:nvSpPr>
          <p:cNvPr id="105" name="Tarjeta"/>
          <p:cNvSpPr txBox="1"/>
          <p:nvPr/>
        </p:nvSpPr>
        <p:spPr>
          <a:xfrm>
            <a:off x="838200" y="3500000"/>
            <a:ext cx="5150000" cy="1750000"/>
          </a:xfrm>
          <a:prstGeom prst="roundRect">
            <a:avLst>
              <a:gd name="adj" fmla="val 6000"/>
            </a:avLst>
          </a:prstGeom>
          <a:solidFill>
            <a:srgbClr val="FBEDE8"/>
          </a:solidFill>
          <a:ln w="12700">
            <a:solidFill>
              <a:srgbClr val="D4875A"/>
            </a:solidFill>
          </a:ln>
        </p:spPr>
        <p:txBody>
          <a:bodyPr wrap="square" lIns="137160" tIns="91440" rIns="137160" bIns="91440" anchor="t">
            <a:normAutofit/>
          </a:bodyPr>
          <a:lstStyle/>
          <a:p>
            <a:pPr marL="0" indent="0">
              <a:buNone/>
            </a:pPr>
            <a:r>
              <a:rPr lang="es-PE" dirty="0" sz="1400" b="1">
                <a:solidFill>
                  <a:srgbClr val="990011"/>
                </a:solidFill>
              </a:rPr>
              <a:t>QUÉ OBSERVAR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PE" dirty="0" sz="1500"/>
              <a:t>Qué es una prueba de integración.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PE" dirty="0" sz="1500"/>
              <a:t>Qué estrategias existen para integrar.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PE" dirty="0" sz="1500"/>
              <a:t>Qué errores aparecen al unir componentes.</a:t>
            </a:r>
          </a:p>
        </p:txBody>
      </p:sp>
      <p:sp>
        <p:nvSpPr>
          <p:cNvPr id="106" name="Tarjeta"/>
          <p:cNvSpPr txBox="1"/>
          <p:nvPr/>
        </p:nvSpPr>
        <p:spPr>
          <a:xfrm>
            <a:off x="6200000" y="3500000"/>
            <a:ext cx="5150000" cy="1750000"/>
          </a:xfrm>
          <a:prstGeom prst="roundRect">
            <a:avLst>
              <a:gd name="adj" fmla="val 6000"/>
            </a:avLst>
          </a:prstGeom>
          <a:solidFill>
            <a:srgbClr val="FBEDE8"/>
          </a:solidFill>
          <a:ln w="12700">
            <a:solidFill>
              <a:srgbClr val="D4875A"/>
            </a:solidFill>
          </a:ln>
        </p:spPr>
        <p:txBody>
          <a:bodyPr wrap="square" lIns="137160" tIns="91440" rIns="137160" bIns="91440" anchor="t">
            <a:normAutofit/>
          </a:bodyPr>
          <a:lstStyle/>
          <a:p>
            <a:pPr marL="0" indent="0">
              <a:buNone/>
            </a:pPr>
            <a:r>
              <a:rPr lang="es-PE" dirty="0" sz="1400" b="1">
                <a:solidFill>
                  <a:srgbClr val="990011"/>
                </a:solidFill>
              </a:rPr>
              <a:t>APLÍCALO EN TU PROYECTO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PE" dirty="0" sz="1500"/>
              <a:t>Aplica estos conceptos para probar cómo se integran los servicios de tu plataforma.</a:t>
            </a:r>
          </a:p>
        </p:txBody>
      </p:sp>
    </p:spTree>
    <p:extLst>
      <p:ext uri="{BB962C8B-B14F-4D97-AF65-F5344CB8AC3E}">
        <p14:creationId xmlns:p14="http://schemas.microsoft.com/office/powerpoint/2010/main" val="28635469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3476</TotalTime>
  <Words>205</Words>
  <Application>Microsoft Office PowerPoint</Application>
  <PresentationFormat>Panorámica</PresentationFormat>
  <Paragraphs>75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Tema de Office</vt:lpstr>
      <vt:lpstr>PROGRAMA DE ESTUDIO [ … ]</vt:lpstr>
      <vt:lpstr>NETIQUETAS</vt:lpstr>
      <vt:lpstr>TEMA: [ … ]</vt:lpstr>
      <vt:lpstr>SABERES PREVIOS</vt:lpstr>
      <vt:lpstr>CONFLICTO COGNITIVO</vt:lpstr>
      <vt:lpstr>LOGRO DE LA SESIÓN</vt:lpstr>
      <vt:lpstr>IDEAS CENTRALES DEL DESARROLLO</vt:lpstr>
      <vt:lpstr>ACTIVIDAD EN EQUIPOS DE TRABAJO</vt:lpstr>
      <vt:lpstr>INSTRUMENTO DE EVALUACIÓN</vt:lpstr>
      <vt:lpstr>IDEAS FUERZA</vt:lpstr>
      <vt:lpstr>PREGUNTAS DE REFLEXIÓN</vt:lpstr>
      <vt:lpstr>REFERENCIAS BIBLIOGRÁFICAS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Bady Elder Cruz Díaz</dc:creator>
  <cp:lastModifiedBy>pavillar (Villar Paredes, Alberto Guillermo)</cp:lastModifiedBy>
  <cp:revision>172</cp:revision>
  <dcterms:created xsi:type="dcterms:W3CDTF">2020-04-02T18:40:39Z</dcterms:created>
  <dcterms:modified xsi:type="dcterms:W3CDTF">2025-04-12T16:53:37Z</dcterms:modified>
</cp:coreProperties>
</file>